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Lst>
  <p:sldSz cy="5143500" cx="9144000"/>
  <p:notesSz cx="6858000" cy="9144000"/>
  <p:embeddedFontLst>
    <p:embeddedFont>
      <p:font typeface="Roboto"/>
      <p:regular r:id="rId104"/>
      <p:bold r:id="rId105"/>
      <p:italic r:id="rId106"/>
      <p:boldItalic r:id="rId107"/>
    </p:embeddedFont>
    <p:embeddedFont>
      <p:font typeface="Open Sans"/>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AF1485-0047-4A64-801A-5D2B463FD8BA}">
  <a:tblStyle styleId="{F5AF1485-0047-4A64-801A-5D2B463FD8B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Roboto-boldItalic.fntdata"/><Relationship Id="rId106" Type="http://schemas.openxmlformats.org/officeDocument/2006/relationships/font" Target="fonts/Roboto-italic.fntdata"/><Relationship Id="rId105" Type="http://schemas.openxmlformats.org/officeDocument/2006/relationships/font" Target="fonts/Roboto-bold.fntdata"/><Relationship Id="rId104" Type="http://schemas.openxmlformats.org/officeDocument/2006/relationships/font" Target="fonts/Roboto-regular.fntdata"/><Relationship Id="rId109" Type="http://schemas.openxmlformats.org/officeDocument/2006/relationships/font" Target="fonts/OpenSans-bold.fntdata"/><Relationship Id="rId108" Type="http://schemas.openxmlformats.org/officeDocument/2006/relationships/font" Target="fonts/OpenSans-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10" Type="http://schemas.openxmlformats.org/officeDocument/2006/relationships/font" Target="fonts/OpenSans-italic.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11" Type="http://schemas.openxmlformats.org/officeDocument/2006/relationships/font" Target="fonts/OpenSans-bold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4b58065e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4b58065e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4b58065e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4b58065e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4b58065e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4b58065e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4b58065e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4b58065e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4b58065e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4b58065e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4b58065eb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4b58065eb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4b58065e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4b58065e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4b58065e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4b58065e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794f7f6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794f7f6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794f7f62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794f7f62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794f7f62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794f7f62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794f7f62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794f7f62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794f7f62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794f7f62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794f7f62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d794f7f62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794f7f62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794f7f62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794f7f62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794f7f62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794f7f62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794f7f62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794f7f62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794f7f62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794f7f62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794f7f62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e72dc4c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e72dc4c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e72dc4c8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e72dc4c8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e72dc4c8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e72dc4c8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e72dc4c8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e72dc4c8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e72dc4c8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e72dc4c8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e72dc4c8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de72dc4c8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e72dc4c8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e72dc4c8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e72dc4c8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e72dc4c8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ea0036a9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ea0036a9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ea0036a9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ea0036a9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a0036a91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ea0036a91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a0036a91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ea0036a91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ea0036a91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ea0036a91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a0036a91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ea0036a91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a0036a91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a0036a91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a0036a91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ea0036a91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a0036a91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ea0036a91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a0036a91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ea0036a91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a0036a91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ea0036a91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a0036a91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ea0036a91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11acdcf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f11acdcf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11acdcfa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11acdcfa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11acdcfa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11acdcfa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11acdcfa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11acdcfa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11acdcfa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11acdcfa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11acdcf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f11acdcf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11acdcfa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11acdcfa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f11acdcfa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f11acdcfa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11acdcfa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f11acdcfa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11acdcfa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11acdcfa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11acdcfa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f11acdcfa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11acdcfa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f11acdcfa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ee7aca3d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ee7aca3d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ee7aca3d7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ee7aca3d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ee7aca3d7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ee7aca3d7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e7aca3d7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ee7aca3d7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e7aca3d7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ee7aca3d7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e7aca3d7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ee7aca3d7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ee7aca3d7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ee7aca3d7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ee7aca3d7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ee7aca3d7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ee7aca3d7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ee7aca3d7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943a720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f943a720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943a720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f943a720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943a720d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943a720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f943a720d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f943a720d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943a720d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f943a720d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f943a720d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f943a720d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f943a720d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f943a720d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f943a720d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f943a720d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943a720d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f943a720d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943a720d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f943a720d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f943a720d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f943a720d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943a720d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943a720d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f9843acb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f9843acb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9843acb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f9843acb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f9843acbc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f9843acbc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9843acbc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f9843acbc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9843acbc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f9843acbc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f9843acbc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f9843acbc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f9843acbc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f9843acbc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9843acbc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f9843acbc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f9843acbc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f9843acbc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f74264ef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f74264ef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74264efa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f74264efa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f74264efa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f74264efa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f74264efa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f74264efa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74264efa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f74264efa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f74264efa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f74264efa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f74264efa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f74264efa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fb6cd196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fb6cd196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fb6cd1962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fb6cd1962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b6cd1962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fb6cd1962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fb6cd1962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fb6cd1962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fb6cd1962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fb6cd1962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fb6cd1962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fb6cd1962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fb6cd1962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fb6cd1962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fb6cd1962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fb6cd1962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02 marzo,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Escala</a:t>
            </a:r>
            <a:endParaRPr/>
          </a:p>
          <a:p>
            <a:pPr indent="-342900" lvl="0" marL="457200" rtl="0" algn="l">
              <a:spcBef>
                <a:spcPts val="0"/>
              </a:spcBef>
              <a:spcAft>
                <a:spcPts val="0"/>
              </a:spcAft>
              <a:buSzPts val="1800"/>
              <a:buAutoNum type="arabicPeriod"/>
            </a:pPr>
            <a:r>
              <a:rPr lang="es"/>
              <a:t>Aspectos de forma</a:t>
            </a:r>
            <a:endParaRPr/>
          </a:p>
          <a:p>
            <a:pPr indent="-342900" lvl="0" marL="457200" rtl="0" algn="l">
              <a:spcBef>
                <a:spcPts val="0"/>
              </a:spcBef>
              <a:spcAft>
                <a:spcPts val="0"/>
              </a:spcAft>
              <a:buSzPts val="1800"/>
              <a:buAutoNum type="arabicPeriod"/>
            </a:pPr>
            <a:r>
              <a:rPr lang="es"/>
              <a:t>Aspectos de fondo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Escala</a:t>
            </a:r>
            <a:endParaRPr/>
          </a:p>
        </p:txBody>
      </p:sp>
      <p:pic>
        <p:nvPicPr>
          <p:cNvPr id="98" name="Google Shape;98;p15"/>
          <p:cNvPicPr preferRelativeResize="0"/>
          <p:nvPr/>
        </p:nvPicPr>
        <p:blipFill>
          <a:blip r:embed="rId3">
            <a:alphaModFix/>
          </a:blip>
          <a:stretch>
            <a:fillRect/>
          </a:stretch>
        </p:blipFill>
        <p:spPr>
          <a:xfrm>
            <a:off x="1803175" y="1084705"/>
            <a:ext cx="3124200" cy="3640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Aspectos de forma</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U</a:t>
            </a:r>
            <a:r>
              <a:rPr lang="es"/>
              <a:t>niformidad en los formatos de guiones de diseño instruccional:</a:t>
            </a:r>
            <a:endParaRPr/>
          </a:p>
          <a:p>
            <a:pPr indent="-342900" lvl="0" marL="457200" rtl="0" algn="just">
              <a:spcBef>
                <a:spcPts val="1200"/>
              </a:spcBef>
              <a:spcAft>
                <a:spcPts val="0"/>
              </a:spcAft>
              <a:buSzPts val="1800"/>
              <a:buChar char="●"/>
            </a:pPr>
            <a:r>
              <a:rPr lang="es"/>
              <a:t>Evita confusiones en la comunicación interna (equipo) y externa (cliente).</a:t>
            </a:r>
            <a:endParaRPr/>
          </a:p>
          <a:p>
            <a:pPr indent="-342900" lvl="0" marL="457200" rtl="0" algn="just">
              <a:spcBef>
                <a:spcPts val="0"/>
              </a:spcBef>
              <a:spcAft>
                <a:spcPts val="0"/>
              </a:spcAft>
              <a:buSzPts val="1800"/>
              <a:buChar char="●"/>
            </a:pPr>
            <a:r>
              <a:rPr lang="es"/>
              <a:t>Varios diseñadores instruccionales + módulos de un mismo curso = la transición sea invisible para el usuario final.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Aspectos de forma</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Marcar en los guiones lo que puede ser un botón/una lista/un esquema.</a:t>
            </a:r>
            <a:endParaRPr/>
          </a:p>
          <a:p>
            <a:pPr indent="-342900" lvl="0" marL="457200" rtl="0" algn="just">
              <a:spcBef>
                <a:spcPts val="1200"/>
              </a:spcBef>
              <a:spcAft>
                <a:spcPts val="0"/>
              </a:spcAft>
              <a:buSzPts val="1800"/>
              <a:buChar char="●"/>
            </a:pPr>
            <a:r>
              <a:rPr lang="es"/>
              <a:t>A</a:t>
            </a:r>
            <a:r>
              <a:rPr lang="es"/>
              <a:t>rquitectura del contenido.</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s"/>
              <a:t>Beneficios:</a:t>
            </a:r>
            <a:endParaRPr/>
          </a:p>
          <a:p>
            <a:pPr indent="-342900" lvl="0" marL="457200" rtl="0" algn="just">
              <a:spcBef>
                <a:spcPts val="1200"/>
              </a:spcBef>
              <a:spcAft>
                <a:spcPts val="0"/>
              </a:spcAft>
              <a:buSzPts val="1800"/>
              <a:buChar char="●"/>
            </a:pPr>
            <a:r>
              <a:rPr lang="es"/>
              <a:t>Usuario: navegar de forma intuitiva.</a:t>
            </a:r>
            <a:endParaRPr/>
          </a:p>
          <a:p>
            <a:pPr indent="-342900" lvl="0" marL="457200" rtl="0" algn="just">
              <a:spcBef>
                <a:spcPts val="0"/>
              </a:spcBef>
              <a:spcAft>
                <a:spcPts val="0"/>
              </a:spcAft>
              <a:buSzPts val="1800"/>
              <a:buChar char="●"/>
            </a:pPr>
            <a:r>
              <a:rPr lang="es"/>
              <a:t>Equipo de diseño: no cometer errores de jerarquía.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Aspectos de fondo</a:t>
            </a:r>
            <a:endParaRPr/>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just">
              <a:spcBef>
                <a:spcPts val="1200"/>
              </a:spcBef>
              <a:spcAft>
                <a:spcPts val="1200"/>
              </a:spcAft>
              <a:buNone/>
            </a:pPr>
            <a:r>
              <a:rPr lang="es"/>
              <a:t>"El aprendizaje es un viaje sin fin hacia el conocimiento... Un camino donde cada paso cuenta para alcanzar la excelencia. Es necesario transformar los procesos. Innovar en cada etapa. Adaptarse al cambio constante... Porque el futuro no espera a nadie. La educación es la llave que abre todas las puertas del éxito... Solo debemos atrevernos a cruzar el umbral del mañana. Con esfuerzo. Con dedicación. Con visión."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Aspectos de fondo</a:t>
            </a:r>
            <a:endParaRPr/>
          </a:p>
        </p:txBody>
      </p:sp>
      <p:sp>
        <p:nvSpPr>
          <p:cNvPr id="122" name="Google Shape;122;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Copy-paste IA:</a:t>
            </a:r>
            <a:endParaRPr/>
          </a:p>
          <a:p>
            <a:pPr indent="-342900" lvl="0" marL="457200" rtl="0" algn="just">
              <a:spcBef>
                <a:spcPts val="1200"/>
              </a:spcBef>
              <a:spcAft>
                <a:spcPts val="0"/>
              </a:spcAft>
              <a:buSzPts val="1800"/>
              <a:buChar char="●"/>
            </a:pPr>
            <a:r>
              <a:rPr b="1" lang="es"/>
              <a:t>Puntos suspensivos sin función gramatical:</a:t>
            </a:r>
            <a:r>
              <a:rPr lang="es"/>
              <a:t> crear "suspenso" o reflexión poética que en muchos casos resulta innecesaria.</a:t>
            </a:r>
            <a:endParaRPr/>
          </a:p>
          <a:p>
            <a:pPr indent="-342900" lvl="0" marL="457200" rtl="0" algn="just">
              <a:spcBef>
                <a:spcPts val="0"/>
              </a:spcBef>
              <a:spcAft>
                <a:spcPts val="0"/>
              </a:spcAft>
              <a:buSzPts val="1800"/>
              <a:buChar char="●"/>
            </a:pPr>
            <a:r>
              <a:rPr b="1" lang="es"/>
              <a:t>Exceso de puntos:</a:t>
            </a:r>
            <a:r>
              <a:rPr lang="es"/>
              <a:t> "Con esfuerzo. Con dedicación." (enfatizar).</a:t>
            </a:r>
            <a:endParaRPr/>
          </a:p>
          <a:p>
            <a:pPr indent="-342900" lvl="0" marL="457200" rtl="0" algn="just">
              <a:spcBef>
                <a:spcPts val="0"/>
              </a:spcBef>
              <a:spcAft>
                <a:spcPts val="0"/>
              </a:spcAft>
              <a:buSzPts val="1800"/>
              <a:buChar char="●"/>
            </a:pPr>
            <a:r>
              <a:rPr b="1" lang="es"/>
              <a:t>Falta de conectores lógicos:</a:t>
            </a:r>
            <a:r>
              <a:rPr lang="es"/>
              <a:t> en lugar de usar nexos ("por lo tanto", "sin embargo", "debido a") corta la idea con un punto y empieza otra.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Aspectos de fondo</a:t>
            </a:r>
            <a:endParaRPr/>
          </a:p>
        </p:txBody>
      </p:sp>
      <p:sp>
        <p:nvSpPr>
          <p:cNvPr id="128" name="Google Shape;128;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SzPts val="1800"/>
              <a:buAutoNum type="arabicPeriod"/>
            </a:pPr>
            <a:r>
              <a:rPr lang="es"/>
              <a:t>¿Qué es el Diseño Instruccional?</a:t>
            </a:r>
            <a:endParaRPr/>
          </a:p>
          <a:p>
            <a:pPr indent="0" lvl="0" marL="457200" rtl="0" algn="l">
              <a:lnSpc>
                <a:spcPct val="100000"/>
              </a:lnSpc>
              <a:spcBef>
                <a:spcPts val="0"/>
              </a:spcBef>
              <a:spcAft>
                <a:spcPts val="0"/>
              </a:spcAft>
              <a:buNone/>
            </a:pPr>
            <a:r>
              <a:t/>
            </a:r>
            <a:endParaRPr/>
          </a:p>
          <a:p>
            <a:pPr indent="-342900" lvl="0" marL="914400" rtl="0" algn="l">
              <a:lnSpc>
                <a:spcPct val="100000"/>
              </a:lnSpc>
              <a:spcBef>
                <a:spcPts val="0"/>
              </a:spcBef>
              <a:spcAft>
                <a:spcPts val="0"/>
              </a:spcAft>
              <a:buSzPts val="1800"/>
              <a:buAutoNum type="alphaLcPeriod"/>
            </a:pPr>
            <a:r>
              <a:rPr lang="es"/>
              <a:t>Es crear cursos para internet.</a:t>
            </a:r>
            <a:endParaRPr/>
          </a:p>
          <a:p>
            <a:pPr indent="-342900" lvl="0" marL="914400" rtl="0" algn="l">
              <a:lnSpc>
                <a:spcPct val="100000"/>
              </a:lnSpc>
              <a:spcBef>
                <a:spcPts val="0"/>
              </a:spcBef>
              <a:spcAft>
                <a:spcPts val="0"/>
              </a:spcAft>
              <a:buSzPts val="1800"/>
              <a:buAutoNum type="alphaLcPeriod"/>
            </a:pPr>
            <a:r>
              <a:rPr lang="es"/>
              <a:t>Es el proceso sistemático de planificar, diseñar y desarrollar materiales educativos que faciliten la adquisición de conocimientos y habilidades específicas de manera eficiente y eficaz, considerando siempre las necesidades del estudiante y los objetivos de aprendizaje.</a:t>
            </a:r>
            <a:endParaRPr/>
          </a:p>
          <a:p>
            <a:pPr indent="-342900" lvl="0" marL="914400" rtl="0" algn="l">
              <a:lnSpc>
                <a:spcPct val="100000"/>
              </a:lnSpc>
              <a:spcBef>
                <a:spcPts val="0"/>
              </a:spcBef>
              <a:spcAft>
                <a:spcPts val="0"/>
              </a:spcAft>
              <a:buSzPts val="1800"/>
              <a:buAutoNum type="alphaLcPeriod"/>
            </a:pPr>
            <a:r>
              <a:rPr lang="es"/>
              <a:t>Es una forma de enseñar con diapositivas.</a:t>
            </a:r>
            <a:endParaRPr/>
          </a:p>
          <a:p>
            <a:pPr indent="-342900" lvl="0" marL="914400" rtl="0" algn="l">
              <a:lnSpc>
                <a:spcPct val="100000"/>
              </a:lnSpc>
              <a:spcBef>
                <a:spcPts val="0"/>
              </a:spcBef>
              <a:spcAft>
                <a:spcPts val="0"/>
              </a:spcAft>
              <a:buSzPts val="1800"/>
              <a:buAutoNum type="alphaLcPeriod"/>
            </a:pPr>
            <a:r>
              <a:rPr lang="es"/>
              <a:t>Es el uso de tecnología en el aula.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Aspectos de fondo</a:t>
            </a:r>
            <a:endParaRPr/>
          </a:p>
        </p:txBody>
      </p:sp>
      <p:sp>
        <p:nvSpPr>
          <p:cNvPr id="134" name="Google Shape;134;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Copy-paste IA:</a:t>
            </a:r>
            <a:endParaRPr/>
          </a:p>
          <a:p>
            <a:pPr indent="-342900" lvl="0" marL="457200" rtl="0" algn="just">
              <a:spcBef>
                <a:spcPts val="1200"/>
              </a:spcBef>
              <a:spcAft>
                <a:spcPts val="0"/>
              </a:spcAft>
              <a:buSzPts val="1800"/>
              <a:buChar char="●"/>
            </a:pPr>
            <a:r>
              <a:rPr b="1" lang="es"/>
              <a:t>Desequilibrio visual</a:t>
            </a:r>
            <a:r>
              <a:rPr b="1" lang="es"/>
              <a:t>:</a:t>
            </a:r>
            <a:r>
              <a:rPr lang="es"/>
              <a:t> extensión de la respuesta correcta.</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s"/>
              <a:t>¿Cómo ajustar?</a:t>
            </a:r>
            <a:endParaRPr/>
          </a:p>
          <a:p>
            <a:pPr indent="0" lvl="0" marL="0" rtl="0" algn="just">
              <a:spcBef>
                <a:spcPts val="1200"/>
              </a:spcBef>
              <a:spcAft>
                <a:spcPts val="1200"/>
              </a:spcAft>
              <a:buNone/>
            </a:pPr>
            <a:r>
              <a:rPr lang="es"/>
              <a:t>En el prompt pedir una longitud similar, estructura gramatical idéntica, evitar el “efecto espejo” </a:t>
            </a:r>
            <a:r>
              <a:rPr lang="es"/>
              <a:t>(distractores que sean errores comunes de la vida real, no solo lo contrario de la verdad).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 + ED</a:t>
            </a:r>
            <a:endParaRPr/>
          </a:p>
        </p:txBody>
      </p:sp>
      <p:sp>
        <p:nvSpPr>
          <p:cNvPr id="140" name="Google Shape;140;p2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17 marzo, 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146" name="Google Shape;146;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Oráculo de la semana</a:t>
            </a:r>
            <a:endParaRPr/>
          </a:p>
          <a:p>
            <a:pPr indent="-342900" lvl="0" marL="457200" rtl="0" algn="l">
              <a:spcBef>
                <a:spcPts val="0"/>
              </a:spcBef>
              <a:spcAft>
                <a:spcPts val="0"/>
              </a:spcAft>
              <a:buSzPts val="1800"/>
              <a:buAutoNum type="arabicPeriod"/>
            </a:pPr>
            <a:r>
              <a:rPr lang="es"/>
              <a:t>Sincronía de recursos visuales</a:t>
            </a:r>
            <a:endParaRPr/>
          </a:p>
          <a:p>
            <a:pPr indent="-342900" lvl="0" marL="457200" rtl="0" algn="l">
              <a:spcBef>
                <a:spcPts val="0"/>
              </a:spcBef>
              <a:spcAft>
                <a:spcPts val="0"/>
              </a:spcAft>
              <a:buSzPts val="1800"/>
              <a:buAutoNum type="arabicPeriod"/>
            </a:pPr>
            <a:r>
              <a:rPr lang="es"/>
              <a:t>Integridad gramatical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Oráculo de la semana</a:t>
            </a:r>
            <a:endParaRPr/>
          </a:p>
        </p:txBody>
      </p:sp>
      <p:pic>
        <p:nvPicPr>
          <p:cNvPr id="152" name="Google Shape;152;p24" title="Gemini_Generated_Image_clgdl1clgdl1clgd.png"/>
          <p:cNvPicPr preferRelativeResize="0"/>
          <p:nvPr/>
        </p:nvPicPr>
        <p:blipFill>
          <a:blip r:embed="rId3">
            <a:alphaModFix/>
          </a:blip>
          <a:stretch>
            <a:fillRect/>
          </a:stretch>
        </p:blipFill>
        <p:spPr>
          <a:xfrm>
            <a:off x="2151763" y="1251738"/>
            <a:ext cx="4840474" cy="26400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Oráculo de la semana</a:t>
            </a:r>
            <a:endParaRPr/>
          </a:p>
        </p:txBody>
      </p:sp>
      <p:pic>
        <p:nvPicPr>
          <p:cNvPr id="158" name="Google Shape;158;p25"/>
          <p:cNvPicPr preferRelativeResize="0"/>
          <p:nvPr/>
        </p:nvPicPr>
        <p:blipFill>
          <a:blip r:embed="rId3">
            <a:alphaModFix/>
          </a:blip>
          <a:stretch>
            <a:fillRect/>
          </a:stretch>
        </p:blipFill>
        <p:spPr>
          <a:xfrm>
            <a:off x="3493688" y="1017800"/>
            <a:ext cx="2156624" cy="3820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Oráculo de la semana</a:t>
            </a:r>
            <a:endParaRPr/>
          </a:p>
        </p:txBody>
      </p:sp>
      <p:pic>
        <p:nvPicPr>
          <p:cNvPr id="164" name="Google Shape;164;p26"/>
          <p:cNvPicPr preferRelativeResize="0"/>
          <p:nvPr/>
        </p:nvPicPr>
        <p:blipFill>
          <a:blip r:embed="rId3">
            <a:alphaModFix/>
          </a:blip>
          <a:stretch>
            <a:fillRect/>
          </a:stretch>
        </p:blipFill>
        <p:spPr>
          <a:xfrm>
            <a:off x="3511788" y="1017800"/>
            <a:ext cx="2120428" cy="3820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Oráculo de la semana</a:t>
            </a:r>
            <a:endParaRPr/>
          </a:p>
        </p:txBody>
      </p:sp>
      <p:pic>
        <p:nvPicPr>
          <p:cNvPr id="170" name="Google Shape;170;p27"/>
          <p:cNvPicPr preferRelativeResize="0"/>
          <p:nvPr/>
        </p:nvPicPr>
        <p:blipFill>
          <a:blip r:embed="rId3">
            <a:alphaModFix/>
          </a:blip>
          <a:stretch>
            <a:fillRect/>
          </a:stretch>
        </p:blipFill>
        <p:spPr>
          <a:xfrm>
            <a:off x="3504500" y="1017800"/>
            <a:ext cx="2135005" cy="3820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Oráculo de la semana</a:t>
            </a:r>
            <a:endParaRPr/>
          </a:p>
        </p:txBody>
      </p:sp>
      <p:pic>
        <p:nvPicPr>
          <p:cNvPr id="176" name="Google Shape;176;p28"/>
          <p:cNvPicPr preferRelativeResize="0"/>
          <p:nvPr/>
        </p:nvPicPr>
        <p:blipFill>
          <a:blip r:embed="rId3">
            <a:alphaModFix/>
          </a:blip>
          <a:stretch>
            <a:fillRect/>
          </a:stretch>
        </p:blipFill>
        <p:spPr>
          <a:xfrm>
            <a:off x="3535888" y="1017800"/>
            <a:ext cx="2072236" cy="3820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Sincronía de recursos visuales</a:t>
            </a:r>
            <a:endParaRPr/>
          </a:p>
        </p:txBody>
      </p:sp>
      <p:sp>
        <p:nvSpPr>
          <p:cNvPr id="182" name="Google Shape;182;p2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
              <a:t>Asegurar que lo que se muestra en pantalla refuerce el concepto técnico mencionado en el audio, evitando el uso de video genérico que no aporte valor pedagógico.</a:t>
            </a:r>
            <a:endParaRPr/>
          </a:p>
        </p:txBody>
      </p:sp>
      <p:pic>
        <p:nvPicPr>
          <p:cNvPr id="183" name="Google Shape;183;p29"/>
          <p:cNvPicPr preferRelativeResize="0"/>
          <p:nvPr/>
        </p:nvPicPr>
        <p:blipFill>
          <a:blip r:embed="rId3">
            <a:alphaModFix/>
          </a:blip>
          <a:stretch>
            <a:fillRect/>
          </a:stretch>
        </p:blipFill>
        <p:spPr>
          <a:xfrm>
            <a:off x="2245688" y="2316325"/>
            <a:ext cx="4652626" cy="24773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Integridad gramatical</a:t>
            </a:r>
            <a:endParaRPr/>
          </a:p>
        </p:txBody>
      </p:sp>
      <p:sp>
        <p:nvSpPr>
          <p:cNvPr id="189" name="Google Shape;189;p3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No siempre procesamos las pantallas como una secuencia fluida.</a:t>
            </a:r>
            <a:endParaRPr/>
          </a:p>
          <a:p>
            <a:pPr indent="0" lvl="0" marL="0" rtl="0" algn="just">
              <a:spcBef>
                <a:spcPts val="1200"/>
              </a:spcBef>
              <a:spcAft>
                <a:spcPts val="1200"/>
              </a:spcAft>
              <a:buNone/>
            </a:pPr>
            <a:r>
              <a:t/>
            </a:r>
            <a:endParaRPr/>
          </a:p>
        </p:txBody>
      </p:sp>
      <p:pic>
        <p:nvPicPr>
          <p:cNvPr id="190" name="Google Shape;190;p30"/>
          <p:cNvPicPr preferRelativeResize="0"/>
          <p:nvPr/>
        </p:nvPicPr>
        <p:blipFill>
          <a:blip r:embed="rId3">
            <a:alphaModFix/>
          </a:blip>
          <a:stretch>
            <a:fillRect/>
          </a:stretch>
        </p:blipFill>
        <p:spPr>
          <a:xfrm>
            <a:off x="2381413" y="2063250"/>
            <a:ext cx="4381174" cy="2405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Integridad gramatical</a:t>
            </a:r>
            <a:endParaRPr/>
          </a:p>
        </p:txBody>
      </p:sp>
      <p:sp>
        <p:nvSpPr>
          <p:cNvPr id="196" name="Google Shape;196;p31"/>
          <p:cNvSpPr txBox="1"/>
          <p:nvPr>
            <p:ph idx="1" type="body"/>
          </p:nvPr>
        </p:nvSpPr>
        <p:spPr>
          <a:xfrm>
            <a:off x="311700" y="1229875"/>
            <a:ext cx="40041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Escena 1</a:t>
            </a:r>
            <a:endParaRPr/>
          </a:p>
          <a:p>
            <a:pPr indent="0" lvl="0" marL="0" rtl="0" algn="just">
              <a:spcBef>
                <a:spcPts val="1200"/>
              </a:spcBef>
              <a:spcAft>
                <a:spcPts val="0"/>
              </a:spcAft>
              <a:buNone/>
            </a:pPr>
            <a:r>
              <a:t/>
            </a:r>
            <a:endParaRPr/>
          </a:p>
          <a:p>
            <a:pPr indent="0" lvl="0" marL="0" rtl="0" algn="ctr">
              <a:spcBef>
                <a:spcPts val="1200"/>
              </a:spcBef>
              <a:spcAft>
                <a:spcPts val="0"/>
              </a:spcAft>
              <a:buNone/>
            </a:pPr>
            <a:r>
              <a:rPr lang="es"/>
              <a:t>que el estudiante desarrolle las...</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t/>
            </a:r>
            <a:endParaRPr/>
          </a:p>
        </p:txBody>
      </p:sp>
      <p:sp>
        <p:nvSpPr>
          <p:cNvPr id="197" name="Google Shape;197;p31"/>
          <p:cNvSpPr txBox="1"/>
          <p:nvPr>
            <p:ph idx="1" type="body"/>
          </p:nvPr>
        </p:nvSpPr>
        <p:spPr>
          <a:xfrm>
            <a:off x="4735575" y="1229875"/>
            <a:ext cx="40041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Escena 2</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lang="es"/>
              <a:t>competencias necesarias. Por ello,</a:t>
            </a:r>
            <a:endParaRPr/>
          </a:p>
          <a:p>
            <a:pPr indent="0" lvl="0" marL="0" rtl="0" algn="ctr">
              <a:spcBef>
                <a:spcPts val="1200"/>
              </a:spcBef>
              <a:spcAft>
                <a:spcPts val="1200"/>
              </a:spcAft>
              <a:buNone/>
            </a:pPr>
            <a:r>
              <a:t/>
            </a:r>
            <a:endParaRPr/>
          </a:p>
        </p:txBody>
      </p:sp>
      <p:sp>
        <p:nvSpPr>
          <p:cNvPr id="198" name="Google Shape;198;p31"/>
          <p:cNvSpPr/>
          <p:nvPr/>
        </p:nvSpPr>
        <p:spPr>
          <a:xfrm>
            <a:off x="413850" y="2061825"/>
            <a:ext cx="3902100" cy="746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 name="Google Shape;199;p31"/>
          <p:cNvSpPr/>
          <p:nvPr/>
        </p:nvSpPr>
        <p:spPr>
          <a:xfrm>
            <a:off x="4786575" y="2061825"/>
            <a:ext cx="3902100" cy="746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Integridad gramatical</a:t>
            </a:r>
            <a:endParaRPr/>
          </a:p>
        </p:txBody>
      </p:sp>
      <p:sp>
        <p:nvSpPr>
          <p:cNvPr id="205" name="Google Shape;205;p3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¿El texto que dejé en la pantalla anterior tiene signo de puntuación final?</a:t>
            </a:r>
            <a:endParaRPr/>
          </a:p>
          <a:p>
            <a:pPr indent="-342900" lvl="0" marL="457200" rtl="0" algn="just">
              <a:spcBef>
                <a:spcPts val="0"/>
              </a:spcBef>
              <a:spcAft>
                <a:spcPts val="0"/>
              </a:spcAft>
              <a:buSzPts val="1800"/>
              <a:buChar char="●"/>
            </a:pPr>
            <a:r>
              <a:rPr lang="es"/>
              <a:t>¿La nueva pantalla inicia con mayúscula?</a:t>
            </a:r>
            <a:endParaRPr/>
          </a:p>
          <a:p>
            <a:pPr indent="-342900" lvl="0" marL="457200" rtl="0" algn="just">
              <a:spcBef>
                <a:spcPts val="0"/>
              </a:spcBef>
              <a:spcAft>
                <a:spcPts val="0"/>
              </a:spcAft>
              <a:buSzPts val="1800"/>
              <a:buChar char="●"/>
            </a:pPr>
            <a:r>
              <a:rPr lang="es"/>
              <a:t>Al leer la pantalla aislada, ¿se entiende o queda una palabra "huérfana"?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211" name="Google Shape;211;p3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13 abril, 2026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217" name="Google Shape;217;p3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Horoscopan</a:t>
            </a:r>
            <a:endParaRPr/>
          </a:p>
          <a:p>
            <a:pPr indent="-342900" lvl="0" marL="457200" rtl="0" algn="l">
              <a:spcBef>
                <a:spcPts val="0"/>
              </a:spcBef>
              <a:spcAft>
                <a:spcPts val="0"/>
              </a:spcAft>
              <a:buSzPts val="1800"/>
              <a:buAutoNum type="arabicPeriod"/>
            </a:pPr>
            <a:r>
              <a:rPr lang="es"/>
              <a:t>Comillas y punto final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Horoscopan</a:t>
            </a:r>
            <a:endParaRPr/>
          </a:p>
        </p:txBody>
      </p:sp>
      <p:pic>
        <p:nvPicPr>
          <p:cNvPr id="223" name="Google Shape;223;p35"/>
          <p:cNvPicPr preferRelativeResize="0"/>
          <p:nvPr/>
        </p:nvPicPr>
        <p:blipFill rotWithShape="1">
          <a:blip r:embed="rId3">
            <a:alphaModFix/>
          </a:blip>
          <a:srcRect b="42439" l="0" r="0" t="0"/>
          <a:stretch/>
        </p:blipFill>
        <p:spPr>
          <a:xfrm>
            <a:off x="1979246" y="1017800"/>
            <a:ext cx="5175280" cy="3873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Horoscopan</a:t>
            </a:r>
            <a:endParaRPr/>
          </a:p>
        </p:txBody>
      </p:sp>
      <p:pic>
        <p:nvPicPr>
          <p:cNvPr id="229" name="Google Shape;229;p36"/>
          <p:cNvPicPr preferRelativeResize="0"/>
          <p:nvPr/>
        </p:nvPicPr>
        <p:blipFill rotWithShape="1">
          <a:blip r:embed="rId3">
            <a:alphaModFix/>
          </a:blip>
          <a:srcRect b="0" l="0" r="0" t="56945"/>
          <a:stretch/>
        </p:blipFill>
        <p:spPr>
          <a:xfrm>
            <a:off x="1005200" y="1420825"/>
            <a:ext cx="6167549" cy="34528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Comillas y punto final</a:t>
            </a:r>
            <a:endParaRPr/>
          </a:p>
        </p:txBody>
      </p:sp>
      <p:sp>
        <p:nvSpPr>
          <p:cNvPr id="235" name="Google Shape;235;p3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
              <a:t>¿Cuál es correcto?</a:t>
            </a:r>
            <a:endParaRPr/>
          </a:p>
        </p:txBody>
      </p:sp>
      <p:sp>
        <p:nvSpPr>
          <p:cNvPr id="236" name="Google Shape;236;p37"/>
          <p:cNvSpPr/>
          <p:nvPr/>
        </p:nvSpPr>
        <p:spPr>
          <a:xfrm>
            <a:off x="1254125" y="2373300"/>
            <a:ext cx="2754300" cy="11430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sz="1800">
                <a:solidFill>
                  <a:schemeClr val="lt1"/>
                </a:solidFill>
                <a:latin typeface="Roboto"/>
                <a:ea typeface="Roboto"/>
                <a:cs typeface="Roboto"/>
                <a:sym typeface="Roboto"/>
              </a:rPr>
              <a:t>Él dijo: “Mañana volveré”.</a:t>
            </a:r>
            <a:endParaRPr b="1">
              <a:solidFill>
                <a:schemeClr val="lt1"/>
              </a:solidFill>
              <a:latin typeface="Roboto"/>
              <a:ea typeface="Roboto"/>
              <a:cs typeface="Roboto"/>
              <a:sym typeface="Roboto"/>
            </a:endParaRPr>
          </a:p>
        </p:txBody>
      </p:sp>
      <p:sp>
        <p:nvSpPr>
          <p:cNvPr id="237" name="Google Shape;237;p37"/>
          <p:cNvSpPr/>
          <p:nvPr/>
        </p:nvSpPr>
        <p:spPr>
          <a:xfrm>
            <a:off x="5238750" y="2373300"/>
            <a:ext cx="2754300" cy="11430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s" sz="1800">
                <a:solidFill>
                  <a:schemeClr val="lt1"/>
                </a:solidFill>
                <a:latin typeface="Roboto"/>
                <a:ea typeface="Roboto"/>
                <a:cs typeface="Roboto"/>
                <a:sym typeface="Roboto"/>
              </a:rPr>
              <a:t>Él dijo: “Mañana volveré.”</a:t>
            </a:r>
            <a:endParaRPr b="1" sz="1800">
              <a:solidFill>
                <a:schemeClr val="lt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Comillas y punto final</a:t>
            </a:r>
            <a:endParaRPr/>
          </a:p>
        </p:txBody>
      </p:sp>
      <p:sp>
        <p:nvSpPr>
          <p:cNvPr id="243" name="Google Shape;243;p3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E</a:t>
            </a:r>
            <a:r>
              <a:rPr lang="es"/>
              <a:t>l punto final se coloca siempre después de las comillas de cierre.</a:t>
            </a:r>
            <a:endParaRPr/>
          </a:p>
          <a:p>
            <a:pPr indent="-342900" lvl="0" marL="457200" rtl="0" algn="just">
              <a:spcBef>
                <a:spcPts val="1200"/>
              </a:spcBef>
              <a:spcAft>
                <a:spcPts val="0"/>
              </a:spcAft>
              <a:buSzPts val="1800"/>
              <a:buChar char="●"/>
            </a:pPr>
            <a:r>
              <a:rPr lang="es"/>
              <a:t>C</a:t>
            </a:r>
            <a:r>
              <a:rPr lang="es"/>
              <a:t>oma</a:t>
            </a:r>
            <a:endParaRPr/>
          </a:p>
          <a:p>
            <a:pPr indent="-342900" lvl="0" marL="457200" rtl="0" algn="just">
              <a:spcBef>
                <a:spcPts val="0"/>
              </a:spcBef>
              <a:spcAft>
                <a:spcPts val="0"/>
              </a:spcAft>
              <a:buSzPts val="1800"/>
              <a:buChar char="●"/>
            </a:pPr>
            <a:r>
              <a:rPr lang="es"/>
              <a:t>Punto y coma</a:t>
            </a:r>
            <a:endParaRPr/>
          </a:p>
          <a:p>
            <a:pPr indent="-342900" lvl="0" marL="457200" rtl="0" algn="just">
              <a:spcBef>
                <a:spcPts val="0"/>
              </a:spcBef>
              <a:spcAft>
                <a:spcPts val="0"/>
              </a:spcAft>
              <a:buSzPts val="1800"/>
              <a:buChar char="●"/>
            </a:pPr>
            <a:r>
              <a:rPr lang="es"/>
              <a:t>Dos puntos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Comillas y punto final</a:t>
            </a:r>
            <a:endParaRPr/>
          </a:p>
        </p:txBody>
      </p:sp>
      <p:sp>
        <p:nvSpPr>
          <p:cNvPr id="249" name="Google Shape;249;p3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Abreviaturas</a:t>
            </a:r>
            <a:endParaRPr b="1"/>
          </a:p>
          <a:p>
            <a:pPr indent="0" lvl="0" marL="0" rtl="0" algn="ctr">
              <a:spcBef>
                <a:spcPts val="1200"/>
              </a:spcBef>
              <a:spcAft>
                <a:spcPts val="0"/>
              </a:spcAft>
              <a:buNone/>
            </a:pPr>
            <a:r>
              <a:rPr lang="es"/>
              <a:t>“Vine de EE. UU.”. </a:t>
            </a:r>
            <a:endParaRPr/>
          </a:p>
          <a:p>
            <a:pPr indent="0" lvl="0" marL="0" rtl="0" algn="just">
              <a:spcBef>
                <a:spcPts val="1200"/>
              </a:spcBef>
              <a:spcAft>
                <a:spcPts val="1200"/>
              </a:spcAft>
              <a:buNone/>
            </a:pPr>
            <a:r>
              <a:rPr lang="es"/>
              <a:t>El punto de la abreviatura se mantiene y se añade el punto final fuera.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Comillas y punto final</a:t>
            </a:r>
            <a:endParaRPr/>
          </a:p>
        </p:txBody>
      </p:sp>
      <p:sp>
        <p:nvSpPr>
          <p:cNvPr id="255" name="Google Shape;255;p4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t>Puntos suspensivos</a:t>
            </a:r>
            <a:endParaRPr b="1"/>
          </a:p>
          <a:p>
            <a:pPr indent="0" lvl="0" marL="0" rtl="0" algn="ctr">
              <a:spcBef>
                <a:spcPts val="1200"/>
              </a:spcBef>
              <a:spcAft>
                <a:spcPts val="0"/>
              </a:spcAft>
              <a:buNone/>
            </a:pPr>
            <a:r>
              <a:rPr lang="es"/>
              <a:t>“No sé si decirte que…”. Al final decidió callar.</a:t>
            </a:r>
            <a:endParaRPr/>
          </a:p>
          <a:p>
            <a:pPr indent="0" lvl="0" marL="0" rtl="0" algn="l">
              <a:spcBef>
                <a:spcPts val="1200"/>
              </a:spcBef>
              <a:spcAft>
                <a:spcPts val="1200"/>
              </a:spcAft>
              <a:buNone/>
            </a:pPr>
            <a:r>
              <a:rPr lang="es"/>
              <a:t>Si el texto citado termina en puntos suspensivos, estos van dentro de las comillas, y el punto final de la oración sigue yendo fuera.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261" name="Google Shape;261;p41"/>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25 mayo, 2026</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267" name="Google Shape;267;p4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Rompecabezas</a:t>
            </a:r>
            <a:endParaRPr/>
          </a:p>
          <a:p>
            <a:pPr indent="-342900" lvl="0" marL="457200" rtl="0" algn="l">
              <a:spcBef>
                <a:spcPts val="0"/>
              </a:spcBef>
              <a:spcAft>
                <a:spcPts val="0"/>
              </a:spcAft>
              <a:buSzPts val="1800"/>
              <a:buAutoNum type="arabicPeriod"/>
            </a:pPr>
            <a:r>
              <a:rPr lang="es"/>
              <a:t>Uso de los dos puntos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Rompecabezas</a:t>
            </a:r>
            <a:endParaRPr/>
          </a:p>
        </p:txBody>
      </p:sp>
      <p:sp>
        <p:nvSpPr>
          <p:cNvPr id="273" name="Google Shape;273;p43"/>
          <p:cNvSpPr txBox="1"/>
          <p:nvPr>
            <p:ph idx="1" type="body"/>
          </p:nvPr>
        </p:nvSpPr>
        <p:spPr>
          <a:xfrm>
            <a:off x="311700" y="1229875"/>
            <a:ext cx="8520600" cy="3339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¿Serás tú el ganador o ganadora?</a:t>
            </a:r>
            <a:endParaRPr/>
          </a:p>
          <a:p>
            <a:pPr indent="0" lvl="0" marL="0" rtl="0" algn="ctr">
              <a:spcBef>
                <a:spcPts val="1200"/>
              </a:spcBef>
              <a:spcAft>
                <a:spcPts val="1200"/>
              </a:spcAft>
              <a:buNone/>
            </a:pPr>
            <a:r>
              <a:rPr lang="es"/>
              <a:t>¡Comparte tu pantalla cuando lo hayas resuelto!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279" name="Google Shape;279;p4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¿Cuál es su función?</a:t>
            </a:r>
            <a:endParaRPr b="1"/>
          </a:p>
          <a:p>
            <a:pPr indent="0" lvl="0" marL="0" rtl="0" algn="just">
              <a:spcBef>
                <a:spcPts val="1200"/>
              </a:spcBef>
              <a:spcAft>
                <a:spcPts val="1200"/>
              </a:spcAft>
              <a:buNone/>
            </a:pPr>
            <a:r>
              <a:rPr lang="es"/>
              <a:t>D</a:t>
            </a:r>
            <a:r>
              <a:rPr lang="es"/>
              <a:t>etener el discurso para llamar la atención sobre lo que sigue, lo cual siempre debe mantener una relación de dependencia o causa-efecto con el texto precedente.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285" name="Google Shape;285;p4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Ejemplos de uso</a:t>
            </a:r>
            <a:endParaRPr b="1"/>
          </a:p>
          <a:p>
            <a:pPr indent="0" lvl="0" marL="0" rtl="0" algn="just">
              <a:spcBef>
                <a:spcPts val="1400"/>
              </a:spcBef>
              <a:spcAft>
                <a:spcPts val="0"/>
              </a:spcAft>
              <a:buNone/>
            </a:pPr>
            <a:r>
              <a:rPr b="1" i="1" lang="es">
                <a:solidFill>
                  <a:srgbClr val="4A86E8"/>
                </a:solidFill>
              </a:rPr>
              <a:t>Enumeraciones</a:t>
            </a:r>
            <a:endParaRPr b="1" i="1">
              <a:solidFill>
                <a:srgbClr val="4A86E8"/>
              </a:solidFill>
            </a:endParaRPr>
          </a:p>
          <a:p>
            <a:pPr indent="0" lvl="0" marL="0" rtl="0" algn="just">
              <a:spcBef>
                <a:spcPts val="1200"/>
              </a:spcBef>
              <a:spcAft>
                <a:spcPts val="0"/>
              </a:spcAft>
              <a:buNone/>
            </a:pPr>
            <a:r>
              <a:rPr lang="es"/>
              <a:t>Antes de una enumeración si esta cuenta con un concepto general que resume lo que se va a listar.</a:t>
            </a:r>
            <a:endParaRPr/>
          </a:p>
          <a:p>
            <a:pPr indent="0" lvl="0" marL="0" rtl="0" algn="just">
              <a:spcBef>
                <a:spcPts val="1200"/>
              </a:spcBef>
              <a:spcAft>
                <a:spcPts val="0"/>
              </a:spcAft>
              <a:buNone/>
            </a:pPr>
            <a:r>
              <a:rPr lang="es"/>
              <a:t>Ejemplo: </a:t>
            </a:r>
            <a:endParaRPr/>
          </a:p>
          <a:p>
            <a:pPr indent="0" lvl="0" marL="0" rtl="0" algn="just">
              <a:spcBef>
                <a:spcPts val="1200"/>
              </a:spcBef>
              <a:spcAft>
                <a:spcPts val="1200"/>
              </a:spcAft>
              <a:buNone/>
            </a:pPr>
            <a:r>
              <a:rPr lang="es">
                <a:solidFill>
                  <a:srgbClr val="38761D"/>
                </a:solidFill>
              </a:rPr>
              <a:t>Ayer compré tres libros: uno de historia, una novela y un poemario.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291" name="Google Shape;291;p4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s"/>
              <a:t>No deben colocarse dos puntos si la lista se introduce directamente tras una preposición o un verbo que exige un complemento.</a:t>
            </a:r>
            <a:endParaRPr/>
          </a:p>
          <a:p>
            <a:pPr indent="0" lvl="0" marL="0" rtl="0" algn="ctr">
              <a:spcBef>
                <a:spcPts val="1200"/>
              </a:spcBef>
              <a:spcAft>
                <a:spcPts val="0"/>
              </a:spcAft>
              <a:buNone/>
            </a:pPr>
            <a:br>
              <a:rPr lang="es"/>
            </a:br>
            <a:r>
              <a:rPr lang="es">
                <a:solidFill>
                  <a:srgbClr val="CC0000"/>
                </a:solidFill>
              </a:rPr>
              <a:t>Mis aficiones son: leer, viajar y pintar.</a:t>
            </a:r>
            <a:r>
              <a:rPr lang="es"/>
              <a:t> / </a:t>
            </a:r>
            <a:r>
              <a:rPr lang="es">
                <a:solidFill>
                  <a:srgbClr val="38761D"/>
                </a:solidFill>
              </a:rPr>
              <a:t>Mis aficiones son leer, viajar y pintar.</a:t>
            </a:r>
            <a:r>
              <a:rPr lang="es"/>
              <a:t> </a:t>
            </a:r>
            <a:endParaRPr/>
          </a:p>
          <a:p>
            <a:pPr indent="0" lvl="0" marL="0" rtl="0" algn="ctr">
              <a:spcBef>
                <a:spcPts val="1200"/>
              </a:spcBef>
              <a:spcAft>
                <a:spcPts val="0"/>
              </a:spcAft>
              <a:buNone/>
            </a:pPr>
            <a:r>
              <a:rPr lang="es">
                <a:solidFill>
                  <a:srgbClr val="38761D"/>
                </a:solidFill>
              </a:rPr>
              <a:t>Tengo tres aficiones: leer, viajar y pintar.</a:t>
            </a:r>
            <a:endParaRPr>
              <a:solidFill>
                <a:srgbClr val="38761D"/>
              </a:solidFill>
            </a:endParaRPr>
          </a:p>
          <a:p>
            <a:pPr indent="0" lvl="0" marL="0" rtl="0" algn="just">
              <a:spcBef>
                <a:spcPts val="1200"/>
              </a:spcBef>
              <a:spcAft>
                <a:spcPts val="0"/>
              </a:spcAft>
              <a:buNone/>
            </a:pPr>
            <a:r>
              <a:rPr lang="es"/>
              <a:t>A la inversa:</a:t>
            </a:r>
            <a:endParaRPr>
              <a:solidFill>
                <a:srgbClr val="38761D"/>
              </a:solidFill>
            </a:endParaRPr>
          </a:p>
          <a:p>
            <a:pPr indent="0" lvl="0" marL="0" marR="381000" rtl="0" algn="l">
              <a:spcBef>
                <a:spcPts val="1200"/>
              </a:spcBef>
              <a:spcAft>
                <a:spcPts val="1200"/>
              </a:spcAft>
              <a:buNone/>
            </a:pPr>
            <a:r>
              <a:rPr lang="es">
                <a:solidFill>
                  <a:srgbClr val="38761D"/>
                </a:solidFill>
              </a:rPr>
              <a:t>Natural, sana y económica: así es la comida que preparamos aquí.</a:t>
            </a:r>
            <a:endParaRPr>
              <a:solidFill>
                <a:srgbClr val="38761D"/>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297" name="Google Shape;297;p4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i="1" lang="es">
                <a:solidFill>
                  <a:srgbClr val="4A86E8"/>
                </a:solidFill>
              </a:rPr>
              <a:t>Citas textuales</a:t>
            </a:r>
            <a:endParaRPr b="1" i="1">
              <a:solidFill>
                <a:srgbClr val="4A86E8"/>
              </a:solidFill>
            </a:endParaRPr>
          </a:p>
          <a:p>
            <a:pPr indent="0" lvl="0" marL="0" rtl="0" algn="just">
              <a:spcBef>
                <a:spcPts val="1200"/>
              </a:spcBef>
              <a:spcAft>
                <a:spcPts val="0"/>
              </a:spcAft>
              <a:buNone/>
            </a:pPr>
            <a:r>
              <a:rPr lang="es"/>
              <a:t>Introducen una reproducción literal de palabras ajenas. </a:t>
            </a:r>
            <a:endParaRPr/>
          </a:p>
          <a:p>
            <a:pPr indent="0" lvl="0" marL="0" rtl="0" algn="just">
              <a:spcBef>
                <a:spcPts val="1200"/>
              </a:spcBef>
              <a:spcAft>
                <a:spcPts val="0"/>
              </a:spcAft>
              <a:buNone/>
            </a:pPr>
            <a:r>
              <a:rPr lang="es"/>
              <a:t>Ejemplo: </a:t>
            </a:r>
            <a:endParaRPr/>
          </a:p>
          <a:p>
            <a:pPr indent="0" lvl="0" marL="0" rtl="0" algn="just">
              <a:spcBef>
                <a:spcPts val="1200"/>
              </a:spcBef>
              <a:spcAft>
                <a:spcPts val="0"/>
              </a:spcAft>
              <a:buNone/>
            </a:pPr>
            <a:r>
              <a:rPr lang="es">
                <a:solidFill>
                  <a:srgbClr val="38761D"/>
                </a:solidFill>
              </a:rPr>
              <a:t>El presidente afirmó: «No daremos un paso atrás».</a:t>
            </a:r>
            <a:endParaRPr>
              <a:solidFill>
                <a:srgbClr val="38761D"/>
              </a:solidFill>
            </a:endParaRPr>
          </a:p>
          <a:p>
            <a:pPr indent="0" lvl="0" marL="0" rtl="0" algn="just">
              <a:spcBef>
                <a:spcPts val="1200"/>
              </a:spcBef>
              <a:spcAft>
                <a:spcPts val="0"/>
              </a:spcAft>
              <a:buNone/>
            </a:pPr>
            <a:r>
              <a:t/>
            </a:r>
            <a:endParaRPr/>
          </a:p>
          <a:p>
            <a:pPr indent="0" lvl="0" marL="0" rtl="0" algn="just">
              <a:spcBef>
                <a:spcPts val="1200"/>
              </a:spcBef>
              <a:spcAft>
                <a:spcPts val="1200"/>
              </a:spcAft>
              <a:buNone/>
            </a:pPr>
            <a:r>
              <a:rPr lang="es"/>
              <a:t>La cita debe comenzar obligatoriamente con mayúscula y entre comillas.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303" name="Google Shape;303;p4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1/5</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1000"/>
              </a:spcAft>
              <a:buNone/>
            </a:pPr>
            <a:r>
              <a:rPr lang="es"/>
              <a:t>Sus apellidos son: Esperanza y Caridad.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309" name="Google Shape;309;p4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2/5</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1000"/>
              </a:spcAft>
              <a:buNone/>
            </a:pPr>
            <a:r>
              <a:rPr lang="es"/>
              <a:t>La directora dijo que: no se iban a tolerar plagios en los proyectos de fin de carrera.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315" name="Google Shape;315;p5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3/5</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0"/>
              </a:spcAft>
              <a:buNone/>
            </a:pPr>
            <a:r>
              <a:rPr lang="es"/>
              <a:t>Las calificaciones posibles son estas cinco:</a:t>
            </a:r>
            <a:endParaRPr/>
          </a:p>
          <a:p>
            <a:pPr indent="-352425" lvl="0" marL="3200400" rtl="0" algn="l">
              <a:spcBef>
                <a:spcPts val="1100"/>
              </a:spcBef>
              <a:spcAft>
                <a:spcPts val="0"/>
              </a:spcAft>
              <a:buClr>
                <a:srgbClr val="3A3A3A"/>
              </a:buClr>
              <a:buSzPts val="1950"/>
              <a:buFont typeface="Verdana"/>
              <a:buChar char="●"/>
            </a:pPr>
            <a:r>
              <a:rPr lang="es"/>
              <a:t>Sobresaliente</a:t>
            </a:r>
            <a:endParaRPr/>
          </a:p>
          <a:p>
            <a:pPr indent="-352425" lvl="0" marL="3200400" rtl="0" algn="l">
              <a:spcBef>
                <a:spcPts val="0"/>
              </a:spcBef>
              <a:spcAft>
                <a:spcPts val="0"/>
              </a:spcAft>
              <a:buClr>
                <a:srgbClr val="3A3A3A"/>
              </a:buClr>
              <a:buSzPts val="1950"/>
              <a:buFont typeface="Verdana"/>
              <a:buChar char="●"/>
            </a:pPr>
            <a:r>
              <a:rPr lang="es"/>
              <a:t>Notable</a:t>
            </a:r>
            <a:endParaRPr/>
          </a:p>
          <a:p>
            <a:pPr indent="-352425" lvl="0" marL="3200400" rtl="0" algn="l">
              <a:spcBef>
                <a:spcPts val="0"/>
              </a:spcBef>
              <a:spcAft>
                <a:spcPts val="0"/>
              </a:spcAft>
              <a:buClr>
                <a:srgbClr val="3A3A3A"/>
              </a:buClr>
              <a:buSzPts val="1950"/>
              <a:buFont typeface="Verdana"/>
              <a:buChar char="●"/>
            </a:pPr>
            <a:r>
              <a:rPr lang="es"/>
              <a:t>Insuficiente</a:t>
            </a:r>
            <a:endParaRPr/>
          </a:p>
          <a:p>
            <a:pPr indent="-352425" lvl="0" marL="3200400" rtl="0" algn="l">
              <a:spcBef>
                <a:spcPts val="0"/>
              </a:spcBef>
              <a:spcAft>
                <a:spcPts val="0"/>
              </a:spcAft>
              <a:buClr>
                <a:srgbClr val="3A3A3A"/>
              </a:buClr>
              <a:buSzPts val="1950"/>
              <a:buFont typeface="Verdana"/>
              <a:buChar char="●"/>
            </a:pPr>
            <a:r>
              <a:rPr lang="es"/>
              <a:t>Suficiente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321" name="Google Shape;321;p5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4/5</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0"/>
              </a:spcAft>
              <a:buNone/>
            </a:pPr>
            <a:r>
              <a:rPr lang="es"/>
              <a:t>Mi abuela siempre me lo decía: «Las malas compañías: ese es el principio de muchas desdichas».</a:t>
            </a:r>
            <a:endParaRPr/>
          </a:p>
          <a:p>
            <a:pPr indent="0" lvl="0" marL="0" rtl="0" algn="ctr">
              <a:spcBef>
                <a:spcPts val="1100"/>
              </a:spcBef>
              <a:spcAft>
                <a:spcPts val="10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los dos puntos</a:t>
            </a:r>
            <a:endParaRPr/>
          </a:p>
        </p:txBody>
      </p:sp>
      <p:sp>
        <p:nvSpPr>
          <p:cNvPr id="327" name="Google Shape;327;p5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5/5</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0"/>
              </a:spcAft>
              <a:buNone/>
            </a:pPr>
            <a:r>
              <a:rPr lang="es"/>
              <a:t>Ya tenemos los resultados del sorteo: la selección española comparte grupo con estos países: Brasil, Malta, Gabón y Australia.</a:t>
            </a:r>
            <a:endParaRPr/>
          </a:p>
          <a:p>
            <a:pPr indent="0" lvl="0" marL="0" rtl="0" algn="ctr">
              <a:spcBef>
                <a:spcPts val="1100"/>
              </a:spcBef>
              <a:spcAft>
                <a:spcPts val="10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333" name="Google Shape;333;p5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15 junio, 2026</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339" name="Google Shape;339;p5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En la escala de Maradona</a:t>
            </a:r>
            <a:endParaRPr/>
          </a:p>
          <a:p>
            <a:pPr indent="-342900" lvl="0" marL="457200" rtl="0" algn="l">
              <a:spcBef>
                <a:spcPts val="0"/>
              </a:spcBef>
              <a:spcAft>
                <a:spcPts val="0"/>
              </a:spcAft>
              <a:buSzPts val="1800"/>
              <a:buAutoNum type="arabicPeriod"/>
            </a:pPr>
            <a:r>
              <a:rPr lang="es"/>
              <a:t>Recapitulación</a:t>
            </a:r>
            <a:endParaRPr/>
          </a:p>
          <a:p>
            <a:pPr indent="-342900" lvl="0" marL="457200" rtl="0" algn="l">
              <a:spcBef>
                <a:spcPts val="0"/>
              </a:spcBef>
              <a:spcAft>
                <a:spcPts val="0"/>
              </a:spcAft>
              <a:buSzPts val="1800"/>
              <a:buAutoNum type="arabicPeriod"/>
            </a:pPr>
            <a:r>
              <a:rPr lang="es"/>
              <a:t>Uso de los dos puntos (continuación)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En la escala de Maradona</a:t>
            </a:r>
            <a:endParaRPr/>
          </a:p>
        </p:txBody>
      </p:sp>
      <p:pic>
        <p:nvPicPr>
          <p:cNvPr id="345" name="Google Shape;345;p55"/>
          <p:cNvPicPr preferRelativeResize="0"/>
          <p:nvPr/>
        </p:nvPicPr>
        <p:blipFill>
          <a:blip r:embed="rId3">
            <a:alphaModFix/>
          </a:blip>
          <a:stretch>
            <a:fillRect/>
          </a:stretch>
        </p:blipFill>
        <p:spPr>
          <a:xfrm>
            <a:off x="2718325" y="1017800"/>
            <a:ext cx="3707342" cy="38209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Recapitulación</a:t>
            </a:r>
            <a:endParaRPr/>
          </a:p>
        </p:txBody>
      </p:sp>
      <p:sp>
        <p:nvSpPr>
          <p:cNvPr id="351" name="Google Shape;351;p5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400"/>
              </a:spcBef>
              <a:spcAft>
                <a:spcPts val="0"/>
              </a:spcAft>
              <a:buNone/>
            </a:pPr>
            <a:r>
              <a:rPr b="1" i="1" lang="es">
                <a:solidFill>
                  <a:srgbClr val="4A86E8"/>
                </a:solidFill>
              </a:rPr>
              <a:t>Enumeración</a:t>
            </a:r>
            <a:endParaRPr b="1" i="1">
              <a:solidFill>
                <a:srgbClr val="4A86E8"/>
              </a:solidFill>
            </a:endParaRPr>
          </a:p>
          <a:p>
            <a:pPr indent="0" lvl="0" marL="0" rtl="0" algn="just">
              <a:spcBef>
                <a:spcPts val="1200"/>
              </a:spcBef>
              <a:spcAft>
                <a:spcPts val="0"/>
              </a:spcAft>
              <a:buNone/>
            </a:pPr>
            <a:r>
              <a:rPr lang="es">
                <a:solidFill>
                  <a:srgbClr val="38761D"/>
                </a:solidFill>
              </a:rPr>
              <a:t>Ayer compré tres libros: uno de historia, una novela y un poemario.</a:t>
            </a:r>
            <a:endParaRPr>
              <a:solidFill>
                <a:srgbClr val="38761D"/>
              </a:solidFill>
            </a:endParaRPr>
          </a:p>
          <a:p>
            <a:pPr indent="0" lvl="0" marL="0" rtl="0" algn="just">
              <a:spcBef>
                <a:spcPts val="1200"/>
              </a:spcBef>
              <a:spcAft>
                <a:spcPts val="0"/>
              </a:spcAft>
              <a:buNone/>
            </a:pPr>
            <a:r>
              <a:t/>
            </a:r>
            <a:endParaRPr>
              <a:solidFill>
                <a:srgbClr val="38761D"/>
              </a:solidFill>
            </a:endParaRPr>
          </a:p>
          <a:p>
            <a:pPr indent="0" lvl="0" marL="0" rtl="0" algn="l">
              <a:spcBef>
                <a:spcPts val="1400"/>
              </a:spcBef>
              <a:spcAft>
                <a:spcPts val="0"/>
              </a:spcAft>
              <a:buNone/>
            </a:pPr>
            <a:r>
              <a:rPr b="1" i="1" lang="es">
                <a:solidFill>
                  <a:srgbClr val="4A86E8"/>
                </a:solidFill>
              </a:rPr>
              <a:t>Citas textuales</a:t>
            </a:r>
            <a:endParaRPr b="1" i="1">
              <a:solidFill>
                <a:srgbClr val="4A86E8"/>
              </a:solidFill>
            </a:endParaRPr>
          </a:p>
          <a:p>
            <a:pPr indent="0" lvl="0" marL="0" rtl="0" algn="just">
              <a:spcBef>
                <a:spcPts val="1200"/>
              </a:spcBef>
              <a:spcAft>
                <a:spcPts val="1200"/>
              </a:spcAft>
              <a:buNone/>
            </a:pPr>
            <a:r>
              <a:rPr lang="es">
                <a:solidFill>
                  <a:srgbClr val="38761D"/>
                </a:solidFill>
              </a:rPr>
              <a:t>El presidente afirmó: «No daremos un paso atrás».</a:t>
            </a:r>
            <a:endParaRPr>
              <a:solidFill>
                <a:srgbClr val="38761D"/>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57" name="Google Shape;357;p5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s"/>
              <a:t>Ejemplos de uso</a:t>
            </a:r>
            <a:endParaRPr b="1"/>
          </a:p>
          <a:p>
            <a:pPr indent="0" lvl="0" marL="0" rtl="0" algn="just">
              <a:spcBef>
                <a:spcPts val="1400"/>
              </a:spcBef>
              <a:spcAft>
                <a:spcPts val="0"/>
              </a:spcAft>
              <a:buNone/>
            </a:pPr>
            <a:r>
              <a:rPr b="1" i="1" lang="es">
                <a:solidFill>
                  <a:srgbClr val="4A86E8"/>
                </a:solidFill>
              </a:rPr>
              <a:t>Conexión</a:t>
            </a:r>
            <a:endParaRPr b="1" i="1">
              <a:solidFill>
                <a:srgbClr val="4A86E8"/>
              </a:solidFill>
            </a:endParaRPr>
          </a:p>
          <a:p>
            <a:pPr indent="0" lvl="0" marL="0" rtl="0" algn="just">
              <a:spcBef>
                <a:spcPts val="1200"/>
              </a:spcBef>
              <a:spcAft>
                <a:spcPts val="0"/>
              </a:spcAft>
              <a:buNone/>
            </a:pPr>
            <a:r>
              <a:rPr lang="es"/>
              <a:t>Sustituyen a un enlace cuando la conexión entre dos oraciones es evidente. </a:t>
            </a:r>
            <a:endParaRPr/>
          </a:p>
          <a:p>
            <a:pPr indent="0" lvl="0" marL="0" rtl="0" algn="just">
              <a:spcBef>
                <a:spcPts val="1200"/>
              </a:spcBef>
              <a:spcAft>
                <a:spcPts val="0"/>
              </a:spcAft>
              <a:buNone/>
            </a:pPr>
            <a:r>
              <a:rPr lang="es"/>
              <a:t>Se emplean principalmente en tres casos:</a:t>
            </a:r>
            <a:endParaRPr/>
          </a:p>
          <a:p>
            <a:pPr indent="-342900" lvl="0" marL="457200" rtl="0" algn="just">
              <a:spcBef>
                <a:spcPts val="1200"/>
              </a:spcBef>
              <a:spcAft>
                <a:spcPts val="0"/>
              </a:spcAft>
              <a:buSzPts val="1800"/>
              <a:buAutoNum type="arabicPeriod"/>
            </a:pPr>
            <a:r>
              <a:rPr lang="es"/>
              <a:t>Causa-efecto</a:t>
            </a:r>
            <a:endParaRPr/>
          </a:p>
          <a:p>
            <a:pPr indent="-342900" lvl="0" marL="457200" rtl="0" algn="just">
              <a:spcBef>
                <a:spcPts val="0"/>
              </a:spcBef>
              <a:spcAft>
                <a:spcPts val="0"/>
              </a:spcAft>
              <a:buSzPts val="1800"/>
              <a:buAutoNum type="arabicPeriod"/>
            </a:pPr>
            <a:r>
              <a:rPr lang="es"/>
              <a:t>Conclusión o resumen</a:t>
            </a:r>
            <a:endParaRPr/>
          </a:p>
          <a:p>
            <a:pPr indent="-342900" lvl="0" marL="457200" rtl="0" algn="just">
              <a:spcBef>
                <a:spcPts val="0"/>
              </a:spcBef>
              <a:spcAft>
                <a:spcPts val="0"/>
              </a:spcAft>
              <a:buSzPts val="1800"/>
              <a:buAutoNum type="arabicPeriod"/>
            </a:pPr>
            <a:r>
              <a:rPr lang="es"/>
              <a:t>Verificación o explicación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63" name="Google Shape;363;p5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1. Causa-efecto</a:t>
            </a:r>
            <a:endParaRPr b="1"/>
          </a:p>
          <a:p>
            <a:pPr indent="0" lvl="0" marL="0" rtl="0" algn="l">
              <a:spcBef>
                <a:spcPts val="1200"/>
              </a:spcBef>
              <a:spcAft>
                <a:spcPts val="0"/>
              </a:spcAft>
              <a:buNone/>
            </a:pPr>
            <a:r>
              <a:rPr lang="es"/>
              <a:t>Vinculan una situación con su origen o su consecuencia.</a:t>
            </a:r>
            <a:endParaRPr/>
          </a:p>
          <a:p>
            <a:pPr indent="0" lvl="0" marL="0" marR="381000" rtl="0" algn="l">
              <a:spcBef>
                <a:spcPts val="1200"/>
              </a:spcBef>
              <a:spcAft>
                <a:spcPts val="0"/>
              </a:spcAft>
              <a:buNone/>
            </a:pPr>
            <a:r>
              <a:rPr lang="es"/>
              <a:t>Ejemplo:</a:t>
            </a:r>
            <a:endParaRPr/>
          </a:p>
          <a:p>
            <a:pPr indent="0" lvl="0" marL="0" marR="381000" rtl="0" algn="l">
              <a:spcBef>
                <a:spcPts val="1200"/>
              </a:spcBef>
              <a:spcAft>
                <a:spcPts val="0"/>
              </a:spcAft>
              <a:buNone/>
            </a:pPr>
            <a:r>
              <a:rPr lang="es">
                <a:solidFill>
                  <a:srgbClr val="38761D"/>
                </a:solidFill>
              </a:rPr>
              <a:t>Cerraron el negocio: no podían pagar el alquiler.</a:t>
            </a:r>
            <a:endParaRPr>
              <a:solidFill>
                <a:srgbClr val="38761D"/>
              </a:solidFill>
            </a:endParaRPr>
          </a:p>
          <a:p>
            <a:pPr indent="0" lvl="0" marL="0" marR="381000" rtl="0" algn="l">
              <a:spcBef>
                <a:spcPts val="1200"/>
              </a:spcBef>
              <a:spcAft>
                <a:spcPts val="1200"/>
              </a:spcAft>
              <a:buNone/>
            </a:pPr>
            <a:r>
              <a:rPr lang="es">
                <a:solidFill>
                  <a:srgbClr val="38761D"/>
                </a:solidFill>
              </a:rPr>
              <a:t>El árbitro cometió un error grave: el partido se descontroló.</a:t>
            </a:r>
            <a:endParaRPr>
              <a:solidFill>
                <a:srgbClr val="38761D"/>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69" name="Google Shape;369;p5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2</a:t>
            </a:r>
            <a:r>
              <a:rPr b="1" lang="es"/>
              <a:t>. Conclusión o resumen</a:t>
            </a:r>
            <a:endParaRPr b="1"/>
          </a:p>
          <a:p>
            <a:pPr indent="0" lvl="0" marL="0" rtl="0" algn="l">
              <a:spcBef>
                <a:spcPts val="1200"/>
              </a:spcBef>
              <a:spcAft>
                <a:spcPts val="0"/>
              </a:spcAft>
              <a:buNone/>
            </a:pPr>
            <a:r>
              <a:rPr lang="es"/>
              <a:t>Para cerrar una exposición anterior con una síntesis.</a:t>
            </a:r>
            <a:endParaRPr/>
          </a:p>
          <a:p>
            <a:pPr indent="0" lvl="0" marL="0" marR="381000" rtl="0" algn="l">
              <a:spcBef>
                <a:spcPts val="1200"/>
              </a:spcBef>
              <a:spcAft>
                <a:spcPts val="0"/>
              </a:spcAft>
              <a:buNone/>
            </a:pPr>
            <a:r>
              <a:rPr lang="es"/>
              <a:t>Ejemplo:</a:t>
            </a:r>
            <a:endParaRPr/>
          </a:p>
          <a:p>
            <a:pPr indent="0" lvl="0" marL="0" marR="381000" rtl="0" algn="l">
              <a:spcBef>
                <a:spcPts val="1200"/>
              </a:spcBef>
              <a:spcAft>
                <a:spcPts val="1200"/>
              </a:spcAft>
              <a:buNone/>
            </a:pPr>
            <a:r>
              <a:rPr lang="es">
                <a:solidFill>
                  <a:srgbClr val="38761D"/>
                </a:solidFill>
              </a:rPr>
              <a:t>El desempleo aumenta, la inflación sube y el consumo baja: la crisis económica es innegable.</a:t>
            </a:r>
            <a:endParaRPr>
              <a:solidFill>
                <a:srgbClr val="38761D"/>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75" name="Google Shape;375;p6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3</a:t>
            </a:r>
            <a:r>
              <a:rPr b="1" lang="es"/>
              <a:t>. Verificación o explicación</a:t>
            </a:r>
            <a:endParaRPr b="1"/>
          </a:p>
          <a:p>
            <a:pPr indent="0" lvl="0" marL="0" rtl="0" algn="l">
              <a:spcBef>
                <a:spcPts val="1200"/>
              </a:spcBef>
              <a:spcAft>
                <a:spcPts val="0"/>
              </a:spcAft>
              <a:buNone/>
            </a:pPr>
            <a:r>
              <a:rPr lang="es"/>
              <a:t>Para ilustrar o aclarar un concepto general enunciado previamente.</a:t>
            </a:r>
            <a:endParaRPr/>
          </a:p>
          <a:p>
            <a:pPr indent="0" lvl="0" marL="0" marR="381000" rtl="0" algn="l">
              <a:spcBef>
                <a:spcPts val="1200"/>
              </a:spcBef>
              <a:spcAft>
                <a:spcPts val="0"/>
              </a:spcAft>
              <a:buNone/>
            </a:pPr>
            <a:r>
              <a:rPr lang="es"/>
              <a:t>Ejemplo: </a:t>
            </a:r>
            <a:endParaRPr/>
          </a:p>
          <a:p>
            <a:pPr indent="0" lvl="0" marL="0" marR="381000" rtl="0" algn="l">
              <a:spcBef>
                <a:spcPts val="1200"/>
              </a:spcBef>
              <a:spcAft>
                <a:spcPts val="1200"/>
              </a:spcAft>
              <a:buNone/>
            </a:pPr>
            <a:r>
              <a:rPr lang="es">
                <a:solidFill>
                  <a:srgbClr val="38761D"/>
                </a:solidFill>
              </a:rPr>
              <a:t>La planta necesita cuidados específicos: riego moderado y luz indirecta.</a:t>
            </a:r>
            <a:endParaRPr>
              <a:solidFill>
                <a:srgbClr val="38761D"/>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81" name="Google Shape;381;p6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1/4</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1000"/>
              </a:spcAft>
              <a:buNone/>
            </a:pPr>
            <a:r>
              <a:rPr lang="es"/>
              <a:t>El restaurante se quedó sin ingredientes a mitad de la noche tuvieron que cerrar las puertas antes de tiempo. </a:t>
            </a:r>
            <a:endParaRPr/>
          </a:p>
        </p:txBody>
      </p:sp>
      <p:sp>
        <p:nvSpPr>
          <p:cNvPr id="382" name="Google Shape;382;p61"/>
          <p:cNvSpPr txBox="1"/>
          <p:nvPr/>
        </p:nvSpPr>
        <p:spPr>
          <a:xfrm>
            <a:off x="311700" y="3889075"/>
            <a:ext cx="2268900" cy="679800"/>
          </a:xfrm>
          <a:prstGeom prst="rect">
            <a:avLst/>
          </a:prstGeom>
          <a:solidFill>
            <a:schemeClr val="accent6"/>
          </a:solidFill>
          <a:ln>
            <a:noFill/>
          </a:ln>
        </p:spPr>
        <p:txBody>
          <a:bodyPr anchorCtr="0" anchor="t" bIns="91425" lIns="91425" spcFirstLastPara="1" rIns="91425" wrap="square" tIns="91425">
            <a:noAutofit/>
          </a:bodyPr>
          <a:lstStyle/>
          <a:p>
            <a:pPr indent="-292100" lvl="0" marL="457200" rtl="0" algn="just">
              <a:lnSpc>
                <a:spcPct val="115000"/>
              </a:lnSpc>
              <a:spcBef>
                <a:spcPts val="120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Causa-efecto</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Conclusión o resumen</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Verificación o explicación</a:t>
            </a:r>
            <a:endParaRPr sz="1000">
              <a:solidFill>
                <a:schemeClr val="lt1"/>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88" name="Google Shape;388;p6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2/4</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1000"/>
              </a:spcAft>
              <a:buNone/>
            </a:pPr>
            <a:r>
              <a:rPr lang="es"/>
              <a:t>Ella es una atleta excepcional entrena seis horas diarias, cuida su alimentación y nunca falta a una sesión. </a:t>
            </a:r>
            <a:endParaRPr/>
          </a:p>
        </p:txBody>
      </p:sp>
      <p:sp>
        <p:nvSpPr>
          <p:cNvPr id="389" name="Google Shape;389;p62"/>
          <p:cNvSpPr txBox="1"/>
          <p:nvPr/>
        </p:nvSpPr>
        <p:spPr>
          <a:xfrm>
            <a:off x="311700" y="3889075"/>
            <a:ext cx="2268900" cy="679800"/>
          </a:xfrm>
          <a:prstGeom prst="rect">
            <a:avLst/>
          </a:prstGeom>
          <a:solidFill>
            <a:schemeClr val="accent6"/>
          </a:solidFill>
          <a:ln>
            <a:noFill/>
          </a:ln>
        </p:spPr>
        <p:txBody>
          <a:bodyPr anchorCtr="0" anchor="t" bIns="91425" lIns="91425" spcFirstLastPara="1" rIns="91425" wrap="square" tIns="91425">
            <a:noAutofit/>
          </a:bodyPr>
          <a:lstStyle/>
          <a:p>
            <a:pPr indent="-292100" lvl="0" marL="457200" rtl="0" algn="just">
              <a:lnSpc>
                <a:spcPct val="115000"/>
              </a:lnSpc>
              <a:spcBef>
                <a:spcPts val="120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Causa-efecto</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Conclusión o resumen</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Verificación o explicación</a:t>
            </a:r>
            <a:endParaRPr sz="1000">
              <a:solidFill>
                <a:schemeClr val="lt1"/>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395" name="Google Shape;395;p6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3/4</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1000"/>
              </a:spcAft>
              <a:buNone/>
            </a:pPr>
            <a:r>
              <a:rPr lang="es"/>
              <a:t>El motor empezó a fallar, la batería se descargó por completo y los frenos no respondían el auto quedó totalmente inservible. </a:t>
            </a:r>
            <a:endParaRPr/>
          </a:p>
        </p:txBody>
      </p:sp>
      <p:sp>
        <p:nvSpPr>
          <p:cNvPr id="396" name="Google Shape;396;p63"/>
          <p:cNvSpPr txBox="1"/>
          <p:nvPr/>
        </p:nvSpPr>
        <p:spPr>
          <a:xfrm>
            <a:off x="311700" y="3889075"/>
            <a:ext cx="2268900" cy="679800"/>
          </a:xfrm>
          <a:prstGeom prst="rect">
            <a:avLst/>
          </a:prstGeom>
          <a:solidFill>
            <a:schemeClr val="accent6"/>
          </a:solidFill>
          <a:ln>
            <a:noFill/>
          </a:ln>
        </p:spPr>
        <p:txBody>
          <a:bodyPr anchorCtr="0" anchor="t" bIns="91425" lIns="91425" spcFirstLastPara="1" rIns="91425" wrap="square" tIns="91425">
            <a:noAutofit/>
          </a:bodyPr>
          <a:lstStyle/>
          <a:p>
            <a:pPr indent="-292100" lvl="0" marL="457200" rtl="0" algn="just">
              <a:lnSpc>
                <a:spcPct val="115000"/>
              </a:lnSpc>
              <a:spcBef>
                <a:spcPts val="120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Causa-efecto</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Conclusión o resumen</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Verificación o explicación</a:t>
            </a:r>
            <a:endParaRPr sz="1000">
              <a:solidFill>
                <a:schemeClr val="lt1"/>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402" name="Google Shape;402;p6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rPr>
              <a:t>Ejercicio 4/4</a:t>
            </a:r>
            <a:endParaRPr b="1">
              <a:solidFill>
                <a:srgbClr val="000000"/>
              </a:solidFill>
            </a:endParaRPr>
          </a:p>
          <a:p>
            <a:pPr indent="0" lvl="0" marL="0" rtl="0" algn="l">
              <a:spcBef>
                <a:spcPts val="1400"/>
              </a:spcBef>
              <a:spcAft>
                <a:spcPts val="0"/>
              </a:spcAft>
              <a:buNone/>
            </a:pPr>
            <a:r>
              <a:t/>
            </a:r>
            <a:endParaRPr b="1">
              <a:solidFill>
                <a:srgbClr val="000000"/>
              </a:solidFill>
            </a:endParaRPr>
          </a:p>
          <a:p>
            <a:pPr indent="0" lvl="0" marL="0" rtl="0" algn="ctr">
              <a:spcBef>
                <a:spcPts val="1100"/>
              </a:spcBef>
              <a:spcAft>
                <a:spcPts val="1000"/>
              </a:spcAft>
              <a:buNone/>
            </a:pPr>
            <a:r>
              <a:rPr lang="es"/>
              <a:t>No compres ese boleto de avión hoy los precios bajan a la mitad a partir de la medianoche.  </a:t>
            </a:r>
            <a:endParaRPr/>
          </a:p>
        </p:txBody>
      </p:sp>
      <p:sp>
        <p:nvSpPr>
          <p:cNvPr id="403" name="Google Shape;403;p64"/>
          <p:cNvSpPr txBox="1"/>
          <p:nvPr/>
        </p:nvSpPr>
        <p:spPr>
          <a:xfrm>
            <a:off x="311700" y="3889075"/>
            <a:ext cx="2268900" cy="679800"/>
          </a:xfrm>
          <a:prstGeom prst="rect">
            <a:avLst/>
          </a:prstGeom>
          <a:solidFill>
            <a:schemeClr val="accent6"/>
          </a:solidFill>
          <a:ln>
            <a:noFill/>
          </a:ln>
        </p:spPr>
        <p:txBody>
          <a:bodyPr anchorCtr="0" anchor="t" bIns="91425" lIns="91425" spcFirstLastPara="1" rIns="91425" wrap="square" tIns="91425">
            <a:noAutofit/>
          </a:bodyPr>
          <a:lstStyle/>
          <a:p>
            <a:pPr indent="-292100" lvl="0" marL="457200" rtl="0" algn="just">
              <a:lnSpc>
                <a:spcPct val="115000"/>
              </a:lnSpc>
              <a:spcBef>
                <a:spcPts val="120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Causa-efecto</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Conclusión o resumen</a:t>
            </a:r>
            <a:endParaRPr sz="1000">
              <a:solidFill>
                <a:schemeClr val="lt1"/>
              </a:solidFill>
              <a:latin typeface="Roboto"/>
              <a:ea typeface="Roboto"/>
              <a:cs typeface="Roboto"/>
              <a:sym typeface="Roboto"/>
            </a:endParaRPr>
          </a:p>
          <a:p>
            <a:pPr indent="-292100" lvl="0" marL="457200" rtl="0" algn="just">
              <a:lnSpc>
                <a:spcPct val="115000"/>
              </a:lnSpc>
              <a:spcBef>
                <a:spcPts val="0"/>
              </a:spcBef>
              <a:spcAft>
                <a:spcPts val="0"/>
              </a:spcAft>
              <a:buClr>
                <a:schemeClr val="lt1"/>
              </a:buClr>
              <a:buSzPts val="1000"/>
              <a:buFont typeface="Roboto"/>
              <a:buAutoNum type="arabicPeriod"/>
            </a:pPr>
            <a:r>
              <a:rPr lang="es" sz="1000">
                <a:solidFill>
                  <a:schemeClr val="lt1"/>
                </a:solidFill>
                <a:latin typeface="Roboto"/>
                <a:ea typeface="Roboto"/>
                <a:cs typeface="Roboto"/>
                <a:sym typeface="Roboto"/>
              </a:rPr>
              <a:t>Verificación o explicación</a:t>
            </a:r>
            <a:endParaRPr sz="1000">
              <a:solidFill>
                <a:schemeClr val="lt1"/>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409" name="Google Shape;409;p65"/>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23 junio, 2026</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415" name="Google Shape;415;p6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¿Qué prefieres?</a:t>
            </a:r>
            <a:endParaRPr/>
          </a:p>
          <a:p>
            <a:pPr indent="-342900" lvl="0" marL="457200" rtl="0" algn="l">
              <a:spcBef>
                <a:spcPts val="0"/>
              </a:spcBef>
              <a:spcAft>
                <a:spcPts val="0"/>
              </a:spcAft>
              <a:buSzPts val="1800"/>
              <a:buAutoNum type="arabicPeriod"/>
            </a:pPr>
            <a:r>
              <a:rPr lang="es"/>
              <a:t>Recapitulación</a:t>
            </a:r>
            <a:endParaRPr/>
          </a:p>
          <a:p>
            <a:pPr indent="-342900" lvl="0" marL="457200" rtl="0" algn="l">
              <a:spcBef>
                <a:spcPts val="0"/>
              </a:spcBef>
              <a:spcAft>
                <a:spcPts val="0"/>
              </a:spcAft>
              <a:buSzPts val="1800"/>
              <a:buAutoNum type="arabicPeriod"/>
            </a:pPr>
            <a:r>
              <a:rPr lang="es"/>
              <a:t>Uso de los dos puntos (continuación)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s"/>
              <a:t>¿Qué prefieres?</a:t>
            </a:r>
            <a:endParaRPr/>
          </a:p>
        </p:txBody>
      </p:sp>
      <p:sp>
        <p:nvSpPr>
          <p:cNvPr id="421" name="Google Shape;421;p67"/>
          <p:cNvSpPr txBox="1"/>
          <p:nvPr>
            <p:ph idx="1" type="body"/>
          </p:nvPr>
        </p:nvSpPr>
        <p:spPr>
          <a:xfrm>
            <a:off x="311700" y="1229875"/>
            <a:ext cx="8520600" cy="3339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¿Qué tan popular es tu elección?</a:t>
            </a:r>
            <a:endParaRPr/>
          </a:p>
          <a:p>
            <a:pPr indent="0" lvl="0" marL="0" rtl="0" algn="ctr">
              <a:spcBef>
                <a:spcPts val="1200"/>
              </a:spcBef>
              <a:spcAft>
                <a:spcPts val="1200"/>
              </a:spcAft>
              <a:buNone/>
            </a:pPr>
            <a:r>
              <a:rPr lang="es"/>
              <a:t>¡Descúbrelo!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Recapitulación</a:t>
            </a:r>
            <a:endParaRPr/>
          </a:p>
        </p:txBody>
      </p:sp>
      <p:sp>
        <p:nvSpPr>
          <p:cNvPr id="427" name="Google Shape;427;p6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400"/>
              </a:spcBef>
              <a:spcAft>
                <a:spcPts val="0"/>
              </a:spcAft>
              <a:buNone/>
            </a:pPr>
            <a:r>
              <a:rPr b="1" i="1" lang="es">
                <a:solidFill>
                  <a:srgbClr val="4A86E8"/>
                </a:solidFill>
              </a:rPr>
              <a:t>Enumeración</a:t>
            </a:r>
            <a:endParaRPr b="1" i="1">
              <a:solidFill>
                <a:srgbClr val="4A86E8"/>
              </a:solidFill>
            </a:endParaRPr>
          </a:p>
          <a:p>
            <a:pPr indent="0" lvl="0" marL="0" rtl="0" algn="just">
              <a:spcBef>
                <a:spcPts val="1200"/>
              </a:spcBef>
              <a:spcAft>
                <a:spcPts val="0"/>
              </a:spcAft>
              <a:buNone/>
            </a:pPr>
            <a:r>
              <a:rPr lang="es">
                <a:solidFill>
                  <a:srgbClr val="38761D"/>
                </a:solidFill>
              </a:rPr>
              <a:t>Ayer compré tres libros: uno de historia, una novela y un poemario.</a:t>
            </a:r>
            <a:endParaRPr>
              <a:solidFill>
                <a:srgbClr val="38761D"/>
              </a:solidFill>
            </a:endParaRPr>
          </a:p>
          <a:p>
            <a:pPr indent="0" lvl="0" marL="0" rtl="0" algn="just">
              <a:spcBef>
                <a:spcPts val="1200"/>
              </a:spcBef>
              <a:spcAft>
                <a:spcPts val="0"/>
              </a:spcAft>
              <a:buNone/>
            </a:pPr>
            <a:r>
              <a:t/>
            </a:r>
            <a:endParaRPr>
              <a:solidFill>
                <a:srgbClr val="38761D"/>
              </a:solidFill>
            </a:endParaRPr>
          </a:p>
          <a:p>
            <a:pPr indent="0" lvl="0" marL="0" rtl="0" algn="l">
              <a:spcBef>
                <a:spcPts val="1400"/>
              </a:spcBef>
              <a:spcAft>
                <a:spcPts val="0"/>
              </a:spcAft>
              <a:buNone/>
            </a:pPr>
            <a:r>
              <a:rPr b="1" i="1" lang="es">
                <a:solidFill>
                  <a:srgbClr val="4A86E8"/>
                </a:solidFill>
              </a:rPr>
              <a:t>Citas textuales</a:t>
            </a:r>
            <a:endParaRPr b="1" i="1">
              <a:solidFill>
                <a:srgbClr val="4A86E8"/>
              </a:solidFill>
            </a:endParaRPr>
          </a:p>
          <a:p>
            <a:pPr indent="0" lvl="0" marL="0" rtl="0" algn="just">
              <a:spcBef>
                <a:spcPts val="1200"/>
              </a:spcBef>
              <a:spcAft>
                <a:spcPts val="1200"/>
              </a:spcAft>
              <a:buNone/>
            </a:pPr>
            <a:r>
              <a:rPr lang="es">
                <a:solidFill>
                  <a:srgbClr val="38761D"/>
                </a:solidFill>
              </a:rPr>
              <a:t>El presidente afirmó: «No daremos un paso atrás».</a:t>
            </a:r>
            <a:endParaRPr>
              <a:solidFill>
                <a:srgbClr val="38761D"/>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Recapitulación</a:t>
            </a:r>
            <a:endParaRPr/>
          </a:p>
        </p:txBody>
      </p:sp>
      <p:sp>
        <p:nvSpPr>
          <p:cNvPr id="433" name="Google Shape;433;p6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400"/>
              </a:spcBef>
              <a:spcAft>
                <a:spcPts val="0"/>
              </a:spcAft>
              <a:buNone/>
            </a:pPr>
            <a:r>
              <a:rPr b="1" i="1" lang="es">
                <a:solidFill>
                  <a:srgbClr val="4A86E8"/>
                </a:solidFill>
              </a:rPr>
              <a:t>Conexión</a:t>
            </a:r>
            <a:endParaRPr b="1" i="1">
              <a:solidFill>
                <a:srgbClr val="4A86E8"/>
              </a:solidFill>
            </a:endParaRPr>
          </a:p>
          <a:p>
            <a:pPr indent="-342900" lvl="0" marL="457200" rtl="0" algn="just">
              <a:spcBef>
                <a:spcPts val="1200"/>
              </a:spcBef>
              <a:spcAft>
                <a:spcPts val="0"/>
              </a:spcAft>
              <a:buSzPts val="1800"/>
              <a:buAutoNum type="arabicPeriod"/>
            </a:pPr>
            <a:r>
              <a:rPr lang="es"/>
              <a:t>Causa-efecto</a:t>
            </a:r>
            <a:endParaRPr/>
          </a:p>
          <a:p>
            <a:pPr indent="0" lvl="0" marL="0" marR="381000" rtl="0" algn="l">
              <a:spcBef>
                <a:spcPts val="1200"/>
              </a:spcBef>
              <a:spcAft>
                <a:spcPts val="0"/>
              </a:spcAft>
              <a:buNone/>
            </a:pPr>
            <a:r>
              <a:rPr lang="es">
                <a:solidFill>
                  <a:srgbClr val="38761D"/>
                </a:solidFill>
              </a:rPr>
              <a:t>Cerraron el negocio: no podían pagar el alquiler.</a:t>
            </a:r>
            <a:endParaRPr>
              <a:solidFill>
                <a:srgbClr val="38761D"/>
              </a:solidFill>
            </a:endParaRPr>
          </a:p>
          <a:p>
            <a:pPr indent="0" lvl="0" marL="0" marR="381000" rtl="0" algn="l">
              <a:spcBef>
                <a:spcPts val="1200"/>
              </a:spcBef>
              <a:spcAft>
                <a:spcPts val="0"/>
              </a:spcAft>
              <a:buNone/>
            </a:pPr>
            <a:r>
              <a:t/>
            </a:r>
            <a:endParaRPr>
              <a:solidFill>
                <a:srgbClr val="38761D"/>
              </a:solidFill>
            </a:endParaRPr>
          </a:p>
          <a:p>
            <a:pPr indent="-342900" lvl="0" marL="457200" rtl="0" algn="just">
              <a:spcBef>
                <a:spcPts val="1200"/>
              </a:spcBef>
              <a:spcAft>
                <a:spcPts val="0"/>
              </a:spcAft>
              <a:buSzPts val="1800"/>
              <a:buAutoNum type="arabicPeriod"/>
            </a:pPr>
            <a:r>
              <a:rPr lang="es"/>
              <a:t>Conclusión o resumen</a:t>
            </a:r>
            <a:endParaRPr/>
          </a:p>
          <a:p>
            <a:pPr indent="0" lvl="0" marL="0" marR="381000" rtl="0" algn="l">
              <a:spcBef>
                <a:spcPts val="1200"/>
              </a:spcBef>
              <a:spcAft>
                <a:spcPts val="1200"/>
              </a:spcAft>
              <a:buNone/>
            </a:pPr>
            <a:r>
              <a:rPr lang="es">
                <a:solidFill>
                  <a:srgbClr val="38761D"/>
                </a:solidFill>
              </a:rPr>
              <a:t>El desempleo aumenta, la inflación sube y el consumo baja: la crisis económica es innegable.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Recapitulación</a:t>
            </a:r>
            <a:endParaRPr/>
          </a:p>
        </p:txBody>
      </p:sp>
      <p:sp>
        <p:nvSpPr>
          <p:cNvPr id="439" name="Google Shape;439;p7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400"/>
              </a:spcBef>
              <a:spcAft>
                <a:spcPts val="0"/>
              </a:spcAft>
              <a:buNone/>
            </a:pPr>
            <a:r>
              <a:rPr b="1" i="1" lang="es">
                <a:solidFill>
                  <a:srgbClr val="4A86E8"/>
                </a:solidFill>
              </a:rPr>
              <a:t>Conexión</a:t>
            </a:r>
            <a:endParaRPr b="1" i="1">
              <a:solidFill>
                <a:srgbClr val="4A86E8"/>
              </a:solidFill>
            </a:endParaRPr>
          </a:p>
          <a:p>
            <a:pPr indent="0" lvl="0" marL="0" rtl="0" algn="just">
              <a:spcBef>
                <a:spcPts val="1200"/>
              </a:spcBef>
              <a:spcAft>
                <a:spcPts val="0"/>
              </a:spcAft>
              <a:buNone/>
            </a:pPr>
            <a:r>
              <a:rPr lang="es"/>
              <a:t>3. </a:t>
            </a:r>
            <a:r>
              <a:rPr lang="es"/>
              <a:t>Verificación o explicación</a:t>
            </a:r>
            <a:endParaRPr/>
          </a:p>
          <a:p>
            <a:pPr indent="0" lvl="0" marL="0" marR="381000" rtl="0" algn="l">
              <a:spcBef>
                <a:spcPts val="1200"/>
              </a:spcBef>
              <a:spcAft>
                <a:spcPts val="1200"/>
              </a:spcAft>
              <a:buNone/>
            </a:pPr>
            <a:r>
              <a:rPr lang="es">
                <a:solidFill>
                  <a:srgbClr val="38761D"/>
                </a:solidFill>
              </a:rPr>
              <a:t>La planta necesita cuidados específicos: riego moderado y luz indirecta.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445" name="Google Shape;445;p7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1. Saludos</a:t>
            </a:r>
            <a:endParaRPr b="1"/>
          </a:p>
          <a:p>
            <a:pPr indent="0" lvl="0" marL="0" rtl="0" algn="l">
              <a:spcBef>
                <a:spcPts val="1200"/>
              </a:spcBef>
              <a:spcAft>
                <a:spcPts val="0"/>
              </a:spcAft>
              <a:buNone/>
            </a:pPr>
            <a:r>
              <a:rPr lang="es"/>
              <a:t>Se colocan tras la fórmula de saludo. La palabra que sigue a los dos puntos debe escribirse en un renglón aparte y comenzar con mayúscula.</a:t>
            </a:r>
            <a:endParaRPr/>
          </a:p>
          <a:p>
            <a:pPr indent="0" lvl="0" marL="0" marR="381000" rtl="0" algn="l">
              <a:spcBef>
                <a:spcPts val="1200"/>
              </a:spcBef>
              <a:spcAft>
                <a:spcPts val="0"/>
              </a:spcAft>
              <a:buNone/>
            </a:pPr>
            <a:r>
              <a:rPr lang="es"/>
              <a:t>Ejemplo:</a:t>
            </a:r>
            <a:endParaRPr/>
          </a:p>
          <a:p>
            <a:pPr indent="0" lvl="0" marL="0" marR="381000" rtl="0" algn="l">
              <a:lnSpc>
                <a:spcPct val="115000"/>
              </a:lnSpc>
              <a:spcBef>
                <a:spcPts val="1200"/>
              </a:spcBef>
              <a:spcAft>
                <a:spcPts val="0"/>
              </a:spcAft>
              <a:buNone/>
            </a:pPr>
            <a:r>
              <a:rPr lang="es">
                <a:solidFill>
                  <a:srgbClr val="38761D"/>
                </a:solidFill>
              </a:rPr>
              <a:t>Estimada colega:</a:t>
            </a:r>
            <a:endParaRPr>
              <a:solidFill>
                <a:srgbClr val="38761D"/>
              </a:solidFill>
            </a:endParaRPr>
          </a:p>
          <a:p>
            <a:pPr indent="0" lvl="0" marL="0" marR="381000" rtl="0" algn="l">
              <a:lnSpc>
                <a:spcPct val="115000"/>
              </a:lnSpc>
              <a:spcBef>
                <a:spcPts val="1200"/>
              </a:spcBef>
              <a:spcAft>
                <a:spcPts val="1200"/>
              </a:spcAft>
              <a:buNone/>
            </a:pPr>
            <a:r>
              <a:rPr lang="es">
                <a:solidFill>
                  <a:srgbClr val="38761D"/>
                </a:solidFill>
              </a:rPr>
              <a:t>Le escribo para informarle...</a:t>
            </a:r>
            <a:endParaRPr>
              <a:solidFill>
                <a:srgbClr val="38761D"/>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451" name="Google Shape;451;p7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2</a:t>
            </a:r>
            <a:r>
              <a:rPr b="1" lang="es"/>
              <a:t>. Textos jurídicos y administrativos</a:t>
            </a:r>
            <a:endParaRPr b="1"/>
          </a:p>
          <a:p>
            <a:pPr indent="0" lvl="0" marL="0" rtl="0" algn="l">
              <a:spcBef>
                <a:spcPts val="1200"/>
              </a:spcBef>
              <a:spcAft>
                <a:spcPts val="0"/>
              </a:spcAft>
              <a:buNone/>
            </a:pPr>
            <a:r>
              <a:rPr lang="es"/>
              <a:t>Se emplean después del verbo que describe la acción legal o administrativa (CERTIFICA, EXPONE, SOLICITA). La palabra que sigue empieza con mayúscula en párrafo independiente.</a:t>
            </a:r>
            <a:endParaRPr/>
          </a:p>
          <a:p>
            <a:pPr indent="0" lvl="0" marL="0" marR="381000" rtl="0" algn="l">
              <a:spcBef>
                <a:spcPts val="1200"/>
              </a:spcBef>
              <a:spcAft>
                <a:spcPts val="0"/>
              </a:spcAft>
              <a:buNone/>
            </a:pPr>
            <a:r>
              <a:rPr lang="es"/>
              <a:t>Ejemplo:</a:t>
            </a:r>
            <a:endParaRPr/>
          </a:p>
          <a:p>
            <a:pPr indent="0" lvl="0" marL="0" marR="381000" rtl="0" algn="l">
              <a:spcBef>
                <a:spcPts val="1200"/>
              </a:spcBef>
              <a:spcAft>
                <a:spcPts val="0"/>
              </a:spcAft>
              <a:buNone/>
            </a:pPr>
            <a:r>
              <a:rPr lang="es">
                <a:solidFill>
                  <a:srgbClr val="38761D"/>
                </a:solidFill>
              </a:rPr>
              <a:t>CERTIFICA:</a:t>
            </a:r>
            <a:endParaRPr>
              <a:solidFill>
                <a:srgbClr val="38761D"/>
              </a:solidFill>
            </a:endParaRPr>
          </a:p>
          <a:p>
            <a:pPr indent="0" lvl="0" marL="0" marR="381000" rtl="0" algn="l">
              <a:spcBef>
                <a:spcPts val="1200"/>
              </a:spcBef>
              <a:spcAft>
                <a:spcPts val="1200"/>
              </a:spcAft>
              <a:buNone/>
            </a:pPr>
            <a:r>
              <a:rPr lang="es">
                <a:solidFill>
                  <a:srgbClr val="38761D"/>
                </a:solidFill>
              </a:rPr>
              <a:t>Que el alumno ha cumplido con las horas...</a:t>
            </a:r>
            <a:endParaRPr>
              <a:solidFill>
                <a:srgbClr val="38761D"/>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Uso de los dos puntos</a:t>
            </a:r>
            <a:endParaRPr/>
          </a:p>
        </p:txBody>
      </p:sp>
      <p:sp>
        <p:nvSpPr>
          <p:cNvPr id="457" name="Google Shape;457;p7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3</a:t>
            </a:r>
            <a:r>
              <a:rPr b="1" lang="es"/>
              <a:t>. Títulos y </a:t>
            </a:r>
            <a:r>
              <a:rPr b="1" lang="es"/>
              <a:t>epígrafes</a:t>
            </a:r>
            <a:endParaRPr b="1"/>
          </a:p>
          <a:p>
            <a:pPr indent="0" lvl="0" marL="0" rtl="0" algn="l">
              <a:spcBef>
                <a:spcPts val="1200"/>
              </a:spcBef>
              <a:spcAft>
                <a:spcPts val="0"/>
              </a:spcAft>
              <a:buNone/>
            </a:pPr>
            <a:r>
              <a:rPr lang="es"/>
              <a:t>S</a:t>
            </a:r>
            <a:r>
              <a:rPr lang="es"/>
              <a:t>e usan para separar el tema general de un aspecto parcial, o el título de un libro de su subtítulo.</a:t>
            </a:r>
            <a:endParaRPr/>
          </a:p>
          <a:p>
            <a:pPr indent="0" lvl="0" marL="0" marR="381000" rtl="0" algn="l">
              <a:spcBef>
                <a:spcPts val="1200"/>
              </a:spcBef>
              <a:spcAft>
                <a:spcPts val="0"/>
              </a:spcAft>
              <a:buNone/>
            </a:pPr>
            <a:r>
              <a:rPr lang="es"/>
              <a:t>Ejemplo:</a:t>
            </a:r>
            <a:endParaRPr/>
          </a:p>
          <a:p>
            <a:pPr indent="0" lvl="0" marL="0" marR="381000" rtl="0" algn="l">
              <a:spcBef>
                <a:spcPts val="1200"/>
              </a:spcBef>
              <a:spcAft>
                <a:spcPts val="1200"/>
              </a:spcAft>
              <a:buNone/>
            </a:pPr>
            <a:r>
              <a:rPr lang="es">
                <a:solidFill>
                  <a:srgbClr val="38761D"/>
                </a:solidFill>
              </a:rPr>
              <a:t>La Ilustración: luces y sombras del siglo XVIII</a:t>
            </a:r>
            <a:endParaRPr>
              <a:solidFill>
                <a:srgbClr val="38761D"/>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4"/>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463" name="Google Shape;463;p74"/>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20 julio, 2026</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469" name="Google Shape;469;p7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Respuestas de la evaluación</a:t>
            </a:r>
            <a:endParaRPr/>
          </a:p>
          <a:p>
            <a:pPr indent="-342900" lvl="0" marL="457200" rtl="0" algn="l">
              <a:spcBef>
                <a:spcPts val="0"/>
              </a:spcBef>
              <a:spcAft>
                <a:spcPts val="0"/>
              </a:spcAft>
              <a:buSzPts val="1800"/>
              <a:buAutoNum type="arabicPeriod"/>
            </a:pPr>
            <a:r>
              <a:rPr lang="es"/>
              <a:t>Uso de la coma</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Respuestas de la evaluación</a:t>
            </a:r>
            <a:endParaRPr/>
          </a:p>
        </p:txBody>
      </p:sp>
      <p:pic>
        <p:nvPicPr>
          <p:cNvPr id="475" name="Google Shape;475;p76"/>
          <p:cNvPicPr preferRelativeResize="0"/>
          <p:nvPr/>
        </p:nvPicPr>
        <p:blipFill>
          <a:blip r:embed="rId3">
            <a:alphaModFix/>
          </a:blip>
          <a:stretch>
            <a:fillRect/>
          </a:stretch>
        </p:blipFill>
        <p:spPr>
          <a:xfrm>
            <a:off x="1860763" y="1426300"/>
            <a:ext cx="5422475" cy="26938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Respuestas de la evaluación</a:t>
            </a:r>
            <a:endParaRPr/>
          </a:p>
        </p:txBody>
      </p:sp>
      <p:pic>
        <p:nvPicPr>
          <p:cNvPr id="481" name="Google Shape;481;p77"/>
          <p:cNvPicPr preferRelativeResize="0"/>
          <p:nvPr/>
        </p:nvPicPr>
        <p:blipFill>
          <a:blip r:embed="rId3">
            <a:alphaModFix/>
          </a:blip>
          <a:stretch>
            <a:fillRect/>
          </a:stretch>
        </p:blipFill>
        <p:spPr>
          <a:xfrm>
            <a:off x="1865825" y="1443650"/>
            <a:ext cx="5412351" cy="26956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Respuestas de la evaluación</a:t>
            </a:r>
            <a:endParaRPr/>
          </a:p>
        </p:txBody>
      </p:sp>
      <p:pic>
        <p:nvPicPr>
          <p:cNvPr id="487" name="Google Shape;487;p78"/>
          <p:cNvPicPr preferRelativeResize="0"/>
          <p:nvPr/>
        </p:nvPicPr>
        <p:blipFill>
          <a:blip r:embed="rId3">
            <a:alphaModFix/>
          </a:blip>
          <a:stretch>
            <a:fillRect/>
          </a:stretch>
        </p:blipFill>
        <p:spPr>
          <a:xfrm>
            <a:off x="1873225" y="1436225"/>
            <a:ext cx="5397549" cy="26813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Respuestas de la evaluación</a:t>
            </a:r>
            <a:endParaRPr/>
          </a:p>
        </p:txBody>
      </p:sp>
      <p:pic>
        <p:nvPicPr>
          <p:cNvPr id="493" name="Google Shape;493;p79"/>
          <p:cNvPicPr preferRelativeResize="0"/>
          <p:nvPr/>
        </p:nvPicPr>
        <p:blipFill>
          <a:blip r:embed="rId3">
            <a:alphaModFix/>
          </a:blip>
          <a:stretch>
            <a:fillRect/>
          </a:stretch>
        </p:blipFill>
        <p:spPr>
          <a:xfrm>
            <a:off x="1876925" y="1443625"/>
            <a:ext cx="5390150" cy="26846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Respuestas de la evaluación</a:t>
            </a:r>
            <a:endParaRPr/>
          </a:p>
        </p:txBody>
      </p:sp>
      <p:pic>
        <p:nvPicPr>
          <p:cNvPr id="499" name="Google Shape;499;p80"/>
          <p:cNvPicPr preferRelativeResize="0"/>
          <p:nvPr/>
        </p:nvPicPr>
        <p:blipFill>
          <a:blip r:embed="rId3">
            <a:alphaModFix/>
          </a:blip>
          <a:stretch>
            <a:fillRect/>
          </a:stretch>
        </p:blipFill>
        <p:spPr>
          <a:xfrm>
            <a:off x="1884313" y="1428850"/>
            <a:ext cx="5375375" cy="28400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la coma</a:t>
            </a:r>
            <a:endParaRPr/>
          </a:p>
        </p:txBody>
      </p:sp>
      <p:sp>
        <p:nvSpPr>
          <p:cNvPr id="505" name="Google Shape;505;p8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1</a:t>
            </a:r>
            <a:r>
              <a:rPr b="1" lang="es"/>
              <a:t>. Separar incisos</a:t>
            </a:r>
            <a:endParaRPr b="1"/>
          </a:p>
          <a:p>
            <a:pPr indent="0" lvl="0" marL="0" rtl="0" algn="just">
              <a:spcBef>
                <a:spcPts val="1200"/>
              </a:spcBef>
              <a:spcAft>
                <a:spcPts val="0"/>
              </a:spcAft>
              <a:buNone/>
            </a:pPr>
            <a:r>
              <a:rPr lang="es"/>
              <a:t>Estos son parte de una oración que se intercala con la oración principal, la cual tiene sentido explicativo o añade algo más. La coma se colocará al inicio y al término del inciso.</a:t>
            </a:r>
            <a:endParaRPr/>
          </a:p>
          <a:p>
            <a:pPr indent="0" lvl="0" marL="0" marR="381000" rtl="0" algn="l">
              <a:spcBef>
                <a:spcPts val="1200"/>
              </a:spcBef>
              <a:spcAft>
                <a:spcPts val="0"/>
              </a:spcAft>
              <a:buNone/>
            </a:pPr>
            <a:r>
              <a:rPr lang="es"/>
              <a:t>Ejemplo:</a:t>
            </a:r>
            <a:endParaRPr/>
          </a:p>
          <a:p>
            <a:pPr indent="0" lvl="0" marL="0" marR="381000" rtl="0" algn="l">
              <a:spcBef>
                <a:spcPts val="1200"/>
              </a:spcBef>
              <a:spcAft>
                <a:spcPts val="1200"/>
              </a:spcAft>
              <a:buNone/>
            </a:pPr>
            <a:r>
              <a:rPr lang="es">
                <a:solidFill>
                  <a:srgbClr val="38761D"/>
                </a:solidFill>
              </a:rPr>
              <a:t>Debemos tomar una decisión</a:t>
            </a:r>
            <a:r>
              <a:rPr lang="es">
                <a:solidFill>
                  <a:srgbClr val="FF9900"/>
                </a:solidFill>
              </a:rPr>
              <a:t>,</a:t>
            </a:r>
            <a:r>
              <a:rPr lang="es">
                <a:solidFill>
                  <a:srgbClr val="38761D"/>
                </a:solidFill>
              </a:rPr>
              <a:t> él lo sabe muy bien</a:t>
            </a:r>
            <a:r>
              <a:rPr lang="es">
                <a:solidFill>
                  <a:srgbClr val="FF9900"/>
                </a:solidFill>
              </a:rPr>
              <a:t>,</a:t>
            </a:r>
            <a:r>
              <a:rPr lang="es">
                <a:solidFill>
                  <a:srgbClr val="38761D"/>
                </a:solidFill>
              </a:rPr>
              <a:t> no hay más tiempo.</a:t>
            </a:r>
            <a:endParaRPr>
              <a:solidFill>
                <a:srgbClr val="38761D"/>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la coma</a:t>
            </a:r>
            <a:endParaRPr/>
          </a:p>
        </p:txBody>
      </p:sp>
      <p:sp>
        <p:nvSpPr>
          <p:cNvPr id="511" name="Google Shape;511;p8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1. Separar incisos - Ejercicio</a:t>
            </a:r>
            <a:endParaRPr b="1"/>
          </a:p>
          <a:p>
            <a:pPr indent="-342900" lvl="0" marL="457200" rtl="0" algn="l">
              <a:spcBef>
                <a:spcPts val="1200"/>
              </a:spcBef>
              <a:spcAft>
                <a:spcPts val="0"/>
              </a:spcAft>
              <a:buSzPts val="1800"/>
              <a:buAutoNum type="alphaUcPeriod"/>
            </a:pPr>
            <a:r>
              <a:rPr lang="es"/>
              <a:t>Estamos esperando a Sebastián el dueño del edificio para que nos abra la puerta.</a:t>
            </a:r>
            <a:endParaRPr/>
          </a:p>
          <a:p>
            <a:pPr indent="-342900" lvl="0" marL="457200" rtl="0" algn="l">
              <a:spcBef>
                <a:spcPts val="0"/>
              </a:spcBef>
              <a:spcAft>
                <a:spcPts val="0"/>
              </a:spcAft>
              <a:buSzPts val="1800"/>
              <a:buAutoNum type="alphaUcPeriod"/>
            </a:pPr>
            <a:r>
              <a:rPr lang="es"/>
              <a:t>Luis el hijo de mi amiga es artista plástico.</a:t>
            </a:r>
            <a:endParaRPr/>
          </a:p>
          <a:p>
            <a:pPr indent="-342900" lvl="0" marL="457200" rtl="0" algn="l">
              <a:spcBef>
                <a:spcPts val="0"/>
              </a:spcBef>
              <a:spcAft>
                <a:spcPts val="0"/>
              </a:spcAft>
              <a:buSzPts val="1800"/>
              <a:buAutoNum type="alphaUcPeriod"/>
            </a:pPr>
            <a:r>
              <a:rPr lang="es"/>
              <a:t>Los vientos del Sur que en aquellas regiones son muy frecuentes incomodan a los viajeros.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la coma</a:t>
            </a:r>
            <a:endParaRPr/>
          </a:p>
        </p:txBody>
      </p:sp>
      <p:sp>
        <p:nvSpPr>
          <p:cNvPr id="517" name="Google Shape;517;p8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2</a:t>
            </a:r>
            <a:r>
              <a:rPr b="1" lang="es"/>
              <a:t>. Separar elementos de un listado</a:t>
            </a:r>
            <a:endParaRPr b="1"/>
          </a:p>
          <a:p>
            <a:pPr indent="0" lvl="0" marL="0" rtl="0" algn="just">
              <a:spcBef>
                <a:spcPts val="1200"/>
              </a:spcBef>
              <a:spcAft>
                <a:spcPts val="0"/>
              </a:spcAft>
              <a:buNone/>
            </a:pPr>
            <a:r>
              <a:rPr lang="es"/>
              <a:t>Si la </a:t>
            </a:r>
            <a:r>
              <a:rPr b="1" lang="es">
                <a:solidFill>
                  <a:srgbClr val="0000FF"/>
                </a:solidFill>
              </a:rPr>
              <a:t>enumeración</a:t>
            </a:r>
            <a:r>
              <a:rPr lang="es"/>
              <a:t> es </a:t>
            </a:r>
            <a:r>
              <a:rPr b="1" lang="es">
                <a:solidFill>
                  <a:srgbClr val="0000FF"/>
                </a:solidFill>
              </a:rPr>
              <a:t>completa</a:t>
            </a:r>
            <a:r>
              <a:rPr lang="es"/>
              <a:t>, antes del último elemento, se deberá poner una conjunción.</a:t>
            </a:r>
            <a:endParaRPr/>
          </a:p>
          <a:p>
            <a:pPr indent="0" lvl="0" marL="0" rtl="0" algn="just">
              <a:spcBef>
                <a:spcPts val="1200"/>
              </a:spcBef>
              <a:spcAft>
                <a:spcPts val="0"/>
              </a:spcAft>
              <a:buNone/>
            </a:pPr>
            <a:r>
              <a:rPr lang="es"/>
              <a:t>Ejemplo:</a:t>
            </a:r>
            <a:endParaRPr/>
          </a:p>
          <a:p>
            <a:pPr indent="0" lvl="0" marL="0" rtl="0" algn="l">
              <a:spcBef>
                <a:spcPts val="1200"/>
              </a:spcBef>
              <a:spcAft>
                <a:spcPts val="0"/>
              </a:spcAft>
              <a:buNone/>
            </a:pPr>
            <a:r>
              <a:rPr lang="es">
                <a:solidFill>
                  <a:srgbClr val="38761D"/>
                </a:solidFill>
              </a:rPr>
              <a:t>Cuando vayas al mercado no olvides comprar huevos</a:t>
            </a:r>
            <a:r>
              <a:rPr lang="es">
                <a:solidFill>
                  <a:srgbClr val="FF9900"/>
                </a:solidFill>
              </a:rPr>
              <a:t>,</a:t>
            </a:r>
            <a:r>
              <a:rPr lang="es">
                <a:solidFill>
                  <a:srgbClr val="38761D"/>
                </a:solidFill>
              </a:rPr>
              <a:t> mandarinas</a:t>
            </a:r>
            <a:r>
              <a:rPr lang="es">
                <a:solidFill>
                  <a:srgbClr val="FF9900"/>
                </a:solidFill>
              </a:rPr>
              <a:t>,</a:t>
            </a:r>
            <a:r>
              <a:rPr lang="es">
                <a:solidFill>
                  <a:srgbClr val="38761D"/>
                </a:solidFill>
              </a:rPr>
              <a:t> limones, guayabas</a:t>
            </a:r>
            <a:r>
              <a:rPr lang="es">
                <a:solidFill>
                  <a:srgbClr val="FF9900"/>
                </a:solidFill>
              </a:rPr>
              <a:t>,</a:t>
            </a:r>
            <a:r>
              <a:rPr lang="es">
                <a:solidFill>
                  <a:srgbClr val="38761D"/>
                </a:solidFill>
              </a:rPr>
              <a:t> leche </a:t>
            </a:r>
            <a:r>
              <a:rPr lang="es">
                <a:solidFill>
                  <a:srgbClr val="FF9900"/>
                </a:solidFill>
              </a:rPr>
              <a:t>y</a:t>
            </a:r>
            <a:r>
              <a:rPr lang="es">
                <a:solidFill>
                  <a:srgbClr val="38761D"/>
                </a:solidFill>
              </a:rPr>
              <a:t> pan.</a:t>
            </a:r>
            <a:endParaRPr>
              <a:solidFill>
                <a:srgbClr val="38761D"/>
              </a:solidFill>
            </a:endParaRPr>
          </a:p>
          <a:p>
            <a:pPr indent="0" lvl="0" marL="0" rtl="0" algn="l">
              <a:spcBef>
                <a:spcPts val="1200"/>
              </a:spcBef>
              <a:spcAft>
                <a:spcPts val="1200"/>
              </a:spcAft>
              <a:buNone/>
            </a:pPr>
            <a:r>
              <a:rPr lang="es">
                <a:solidFill>
                  <a:srgbClr val="38761D"/>
                </a:solidFill>
              </a:rPr>
              <a:t>Salí tarde de casa y me di cuenta que no llevaba chamarra</a:t>
            </a:r>
            <a:r>
              <a:rPr lang="es">
                <a:solidFill>
                  <a:srgbClr val="FF9900"/>
                </a:solidFill>
              </a:rPr>
              <a:t>,</a:t>
            </a:r>
            <a:r>
              <a:rPr lang="es">
                <a:solidFill>
                  <a:srgbClr val="38761D"/>
                </a:solidFill>
              </a:rPr>
              <a:t> llaves</a:t>
            </a:r>
            <a:r>
              <a:rPr lang="es">
                <a:solidFill>
                  <a:srgbClr val="FF9900"/>
                </a:solidFill>
              </a:rPr>
              <a:t>,</a:t>
            </a:r>
            <a:r>
              <a:rPr lang="es">
                <a:solidFill>
                  <a:srgbClr val="38761D"/>
                </a:solidFill>
              </a:rPr>
              <a:t> celular </a:t>
            </a:r>
            <a:r>
              <a:rPr lang="es">
                <a:solidFill>
                  <a:srgbClr val="FF9900"/>
                </a:solidFill>
              </a:rPr>
              <a:t>ni</a:t>
            </a:r>
            <a:r>
              <a:rPr lang="es">
                <a:solidFill>
                  <a:srgbClr val="38761D"/>
                </a:solidFill>
              </a:rPr>
              <a:t> dinero.</a:t>
            </a:r>
            <a:endParaRPr sz="1300">
              <a:solidFill>
                <a:srgbClr val="38761D"/>
              </a:solidFill>
              <a:latin typeface="Open Sans"/>
              <a:ea typeface="Open Sans"/>
              <a:cs typeface="Open Sans"/>
              <a:sym typeface="Open San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la coma</a:t>
            </a:r>
            <a:endParaRPr/>
          </a:p>
        </p:txBody>
      </p:sp>
      <p:sp>
        <p:nvSpPr>
          <p:cNvPr id="523" name="Google Shape;523;p8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2. Separar elementos de un listado - Ejercicio</a:t>
            </a:r>
            <a:endParaRPr b="1"/>
          </a:p>
          <a:p>
            <a:pPr indent="0" lvl="0" marL="0" rtl="0" algn="just">
              <a:spcBef>
                <a:spcPts val="1200"/>
              </a:spcBef>
              <a:spcAft>
                <a:spcPts val="0"/>
              </a:spcAft>
              <a:buNone/>
            </a:pPr>
            <a:r>
              <a:rPr lang="es"/>
              <a:t>Redacta una oración de una </a:t>
            </a:r>
            <a:r>
              <a:rPr lang="es"/>
              <a:t>enumeración completa, empleando alguna de las siguientes conjunciones:</a:t>
            </a:r>
            <a:endParaRPr/>
          </a:p>
          <a:p>
            <a:pPr indent="0" lvl="0" marL="0" rtl="0" algn="ctr">
              <a:spcBef>
                <a:spcPts val="1200"/>
              </a:spcBef>
              <a:spcAft>
                <a:spcPts val="0"/>
              </a:spcAft>
              <a:buNone/>
            </a:pPr>
            <a:r>
              <a:rPr lang="es"/>
              <a:t>y</a:t>
            </a:r>
            <a:endParaRPr/>
          </a:p>
          <a:p>
            <a:pPr indent="0" lvl="0" marL="0" rtl="0" algn="ctr">
              <a:spcBef>
                <a:spcPts val="1200"/>
              </a:spcBef>
              <a:spcAft>
                <a:spcPts val="0"/>
              </a:spcAft>
              <a:buNone/>
            </a:pPr>
            <a:r>
              <a:rPr lang="es"/>
              <a:t>e</a:t>
            </a:r>
            <a:endParaRPr/>
          </a:p>
          <a:p>
            <a:pPr indent="0" lvl="0" marL="0" rtl="0" algn="ctr">
              <a:spcBef>
                <a:spcPts val="1200"/>
              </a:spcBef>
              <a:spcAft>
                <a:spcPts val="1200"/>
              </a:spcAft>
              <a:buNone/>
            </a:pPr>
            <a:r>
              <a:rPr lang="es"/>
              <a:t>ni</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Uso de la coma</a:t>
            </a:r>
            <a:endParaRPr/>
          </a:p>
        </p:txBody>
      </p:sp>
      <p:sp>
        <p:nvSpPr>
          <p:cNvPr id="529" name="Google Shape;529;p8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2. Separar elementos de un listado</a:t>
            </a:r>
            <a:endParaRPr b="1"/>
          </a:p>
          <a:p>
            <a:pPr indent="0" lvl="0" marL="0" rtl="0" algn="just">
              <a:spcBef>
                <a:spcPts val="1200"/>
              </a:spcBef>
              <a:spcAft>
                <a:spcPts val="0"/>
              </a:spcAft>
              <a:buNone/>
            </a:pPr>
            <a:r>
              <a:rPr lang="es"/>
              <a:t>Si la </a:t>
            </a:r>
            <a:r>
              <a:rPr b="1" lang="es">
                <a:solidFill>
                  <a:srgbClr val="0000FF"/>
                </a:solidFill>
              </a:rPr>
              <a:t>enumeración</a:t>
            </a:r>
            <a:r>
              <a:rPr lang="es"/>
              <a:t> está </a:t>
            </a:r>
            <a:r>
              <a:rPr b="1" lang="es">
                <a:solidFill>
                  <a:srgbClr val="0000FF"/>
                </a:solidFill>
              </a:rPr>
              <a:t>incompleta</a:t>
            </a:r>
            <a:r>
              <a:rPr lang="es"/>
              <a:t>, se puede utilizar la palabra etcétera, puntos suspensivos o punto.</a:t>
            </a:r>
            <a:endParaRPr/>
          </a:p>
          <a:p>
            <a:pPr indent="0" lvl="0" marL="0" rtl="0" algn="l">
              <a:spcBef>
                <a:spcPts val="1200"/>
              </a:spcBef>
              <a:spcAft>
                <a:spcPts val="0"/>
              </a:spcAft>
              <a:buNone/>
            </a:pPr>
            <a:r>
              <a:rPr lang="es"/>
              <a:t>Ejemplos:</a:t>
            </a:r>
            <a:endParaRPr/>
          </a:p>
          <a:p>
            <a:pPr indent="0" lvl="0" marL="0" rtl="0" algn="l">
              <a:spcBef>
                <a:spcPts val="1200"/>
              </a:spcBef>
              <a:spcAft>
                <a:spcPts val="0"/>
              </a:spcAft>
              <a:buNone/>
            </a:pPr>
            <a:r>
              <a:rPr lang="es"/>
              <a:t>En el universo hay estrellas</a:t>
            </a:r>
            <a:r>
              <a:rPr lang="es">
                <a:solidFill>
                  <a:srgbClr val="FF9900"/>
                </a:solidFill>
              </a:rPr>
              <a:t>,</a:t>
            </a:r>
            <a:r>
              <a:rPr lang="es"/>
              <a:t> planetas</a:t>
            </a:r>
            <a:r>
              <a:rPr lang="es">
                <a:solidFill>
                  <a:srgbClr val="FF9900"/>
                </a:solidFill>
              </a:rPr>
              <a:t>,</a:t>
            </a:r>
            <a:r>
              <a:rPr lang="es"/>
              <a:t> constelaciones</a:t>
            </a:r>
            <a:r>
              <a:rPr lang="es">
                <a:solidFill>
                  <a:srgbClr val="FF9900"/>
                </a:solidFill>
              </a:rPr>
              <a:t>,</a:t>
            </a:r>
            <a:r>
              <a:rPr lang="es"/>
              <a:t> </a:t>
            </a:r>
            <a:r>
              <a:rPr lang="es">
                <a:solidFill>
                  <a:srgbClr val="FF9900"/>
                </a:solidFill>
              </a:rPr>
              <a:t>etc.</a:t>
            </a:r>
            <a:endParaRPr>
              <a:solidFill>
                <a:srgbClr val="FF9900"/>
              </a:solidFill>
            </a:endParaRPr>
          </a:p>
          <a:p>
            <a:pPr indent="0" lvl="0" marL="0" rtl="0" algn="l">
              <a:spcBef>
                <a:spcPts val="1200"/>
              </a:spcBef>
              <a:spcAft>
                <a:spcPts val="0"/>
              </a:spcAft>
              <a:buNone/>
            </a:pPr>
            <a:r>
              <a:rPr lang="es"/>
              <a:t>En el universo hay estrellas</a:t>
            </a:r>
            <a:r>
              <a:rPr lang="es">
                <a:solidFill>
                  <a:srgbClr val="FF9900"/>
                </a:solidFill>
              </a:rPr>
              <a:t>,</a:t>
            </a:r>
            <a:r>
              <a:rPr lang="es"/>
              <a:t> planetas</a:t>
            </a:r>
            <a:r>
              <a:rPr lang="es">
                <a:solidFill>
                  <a:srgbClr val="FF9900"/>
                </a:solidFill>
              </a:rPr>
              <a:t>,</a:t>
            </a:r>
            <a:r>
              <a:rPr lang="es"/>
              <a:t> constelaciones</a:t>
            </a:r>
            <a:r>
              <a:rPr lang="es">
                <a:solidFill>
                  <a:srgbClr val="FF9900"/>
                </a:solidFill>
              </a:rPr>
              <a:t>…</a:t>
            </a:r>
            <a:endParaRPr>
              <a:solidFill>
                <a:srgbClr val="FF9900"/>
              </a:solidFill>
            </a:endParaRPr>
          </a:p>
          <a:p>
            <a:pPr indent="0" lvl="0" marL="0" rtl="0" algn="l">
              <a:spcBef>
                <a:spcPts val="1200"/>
              </a:spcBef>
              <a:spcAft>
                <a:spcPts val="1200"/>
              </a:spcAft>
              <a:buNone/>
            </a:pPr>
            <a:r>
              <a:rPr lang="es"/>
              <a:t>En el universo hay estrellas</a:t>
            </a:r>
            <a:r>
              <a:rPr lang="es">
                <a:solidFill>
                  <a:srgbClr val="FF9900"/>
                </a:solidFill>
              </a:rPr>
              <a:t>,</a:t>
            </a:r>
            <a:r>
              <a:rPr lang="es"/>
              <a:t> planetas</a:t>
            </a:r>
            <a:r>
              <a:rPr lang="es">
                <a:solidFill>
                  <a:srgbClr val="FF9900"/>
                </a:solidFill>
              </a:rPr>
              <a:t>,</a:t>
            </a:r>
            <a:r>
              <a:rPr lang="es"/>
              <a:t> constelaciones</a:t>
            </a:r>
            <a:r>
              <a:rPr lang="es">
                <a:solidFill>
                  <a:srgbClr val="FF9900"/>
                </a:solidFill>
              </a:rPr>
              <a:t>.</a:t>
            </a:r>
            <a:endParaRPr>
              <a:solidFill>
                <a:srgbClr val="FF99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6"/>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535" name="Google Shape;535;p86"/>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04 agosto, 2026</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541" name="Google Shape;541;p8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Uso de la coma (continuación)</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547" name="Google Shape;547;p8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3</a:t>
            </a:r>
            <a:r>
              <a:rPr b="1" lang="es"/>
              <a:t>. Separar el sujeto</a:t>
            </a:r>
            <a:endParaRPr b="1"/>
          </a:p>
          <a:p>
            <a:pPr indent="0" lvl="0" marL="0" rtl="0" algn="just">
              <a:spcBef>
                <a:spcPts val="1200"/>
              </a:spcBef>
              <a:spcAft>
                <a:spcPts val="0"/>
              </a:spcAft>
              <a:buNone/>
            </a:pPr>
            <a:r>
              <a:rPr lang="es"/>
              <a:t>El sujeto </a:t>
            </a:r>
            <a:r>
              <a:rPr lang="es"/>
              <a:t>sirve como vocativo del resto de la oración, si va en la parte media del enunciado se escribe entre dos comas.</a:t>
            </a:r>
            <a:endParaRPr/>
          </a:p>
          <a:p>
            <a:pPr indent="0" lvl="0" marL="0" marR="381000" rtl="0" algn="l">
              <a:spcBef>
                <a:spcPts val="1200"/>
              </a:spcBef>
              <a:spcAft>
                <a:spcPts val="0"/>
              </a:spcAft>
              <a:buNone/>
            </a:pPr>
            <a:r>
              <a:rPr lang="es"/>
              <a:t>Ejemplo:</a:t>
            </a:r>
            <a:endParaRPr/>
          </a:p>
          <a:p>
            <a:pPr indent="0" lvl="0" marL="0" rtl="0" algn="l">
              <a:spcBef>
                <a:spcPts val="1200"/>
              </a:spcBef>
              <a:spcAft>
                <a:spcPts val="0"/>
              </a:spcAft>
              <a:buNone/>
            </a:pPr>
            <a:r>
              <a:rPr lang="es">
                <a:solidFill>
                  <a:srgbClr val="38761D"/>
                </a:solidFill>
              </a:rPr>
              <a:t>Violeta</a:t>
            </a:r>
            <a:r>
              <a:rPr lang="es">
                <a:solidFill>
                  <a:srgbClr val="FF9900"/>
                </a:solidFill>
              </a:rPr>
              <a:t>, </a:t>
            </a:r>
            <a:r>
              <a:rPr lang="es">
                <a:solidFill>
                  <a:srgbClr val="38761D"/>
                </a:solidFill>
              </a:rPr>
              <a:t>deja de saltar en el sillón.</a:t>
            </a:r>
            <a:endParaRPr>
              <a:solidFill>
                <a:srgbClr val="38761D"/>
              </a:solidFill>
            </a:endParaRPr>
          </a:p>
          <a:p>
            <a:pPr indent="0" lvl="0" marL="0" rtl="0" algn="l">
              <a:spcBef>
                <a:spcPts val="1200"/>
              </a:spcBef>
              <a:spcAft>
                <a:spcPts val="1200"/>
              </a:spcAft>
              <a:buNone/>
            </a:pPr>
            <a:r>
              <a:rPr lang="es">
                <a:solidFill>
                  <a:srgbClr val="38761D"/>
                </a:solidFill>
              </a:rPr>
              <a:t>Estoy alegre</a:t>
            </a:r>
            <a:r>
              <a:rPr lang="es">
                <a:solidFill>
                  <a:srgbClr val="FF9900"/>
                </a:solidFill>
              </a:rPr>
              <a:t>,</a:t>
            </a:r>
            <a:r>
              <a:rPr lang="es">
                <a:solidFill>
                  <a:srgbClr val="38761D"/>
                </a:solidFill>
              </a:rPr>
              <a:t> Isabel</a:t>
            </a:r>
            <a:r>
              <a:rPr lang="es">
                <a:solidFill>
                  <a:srgbClr val="FF9900"/>
                </a:solidFill>
              </a:rPr>
              <a:t>,</a:t>
            </a:r>
            <a:r>
              <a:rPr lang="es">
                <a:solidFill>
                  <a:srgbClr val="38761D"/>
                </a:solidFill>
              </a:rPr>
              <a:t> por el regalo.</a:t>
            </a:r>
            <a:endParaRPr>
              <a:solidFill>
                <a:srgbClr val="38761D"/>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553" name="Google Shape;553;p8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Separar el sujeto - Ejercicio</a:t>
            </a:r>
            <a:endParaRPr b="1"/>
          </a:p>
          <a:p>
            <a:pPr indent="-342900" lvl="0" marL="457200" rtl="0" algn="l">
              <a:spcBef>
                <a:spcPts val="1200"/>
              </a:spcBef>
              <a:spcAft>
                <a:spcPts val="0"/>
              </a:spcAft>
              <a:buSzPts val="1800"/>
              <a:buAutoNum type="alphaUcPeriod"/>
            </a:pPr>
            <a:r>
              <a:rPr lang="es"/>
              <a:t>Alfredo creo que estabas equivocado.</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s"/>
              <a:t>Te extrañé mucho mamá.</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s"/>
              <a:t>No sé amigo si podré ir hoy.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559" name="Google Shape;559;p9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4</a:t>
            </a:r>
            <a:r>
              <a:rPr b="1" lang="es"/>
              <a:t>. Separar interjecciones</a:t>
            </a:r>
            <a:endParaRPr b="1"/>
          </a:p>
          <a:p>
            <a:pPr indent="0" lvl="0" marL="0" rtl="0" algn="just">
              <a:spcBef>
                <a:spcPts val="1200"/>
              </a:spcBef>
              <a:spcAft>
                <a:spcPts val="0"/>
              </a:spcAft>
              <a:buNone/>
            </a:pPr>
            <a:r>
              <a:rPr lang="es"/>
              <a:t>En una oración, se emplea coma para separar interjecciones.</a:t>
            </a:r>
            <a:endParaRPr/>
          </a:p>
          <a:p>
            <a:pPr indent="0" lvl="0" marL="0" marR="381000" rtl="0" algn="l">
              <a:spcBef>
                <a:spcPts val="1200"/>
              </a:spcBef>
              <a:spcAft>
                <a:spcPts val="0"/>
              </a:spcAft>
              <a:buNone/>
            </a:pPr>
            <a:r>
              <a:rPr lang="es"/>
              <a:t>Ejemplo:</a:t>
            </a:r>
            <a:endParaRPr/>
          </a:p>
          <a:p>
            <a:pPr indent="0" lvl="0" marL="0" marR="381000" rtl="0" algn="l">
              <a:spcBef>
                <a:spcPts val="1200"/>
              </a:spcBef>
              <a:spcAft>
                <a:spcPts val="0"/>
              </a:spcAft>
              <a:buNone/>
            </a:pPr>
            <a:r>
              <a:rPr lang="es">
                <a:solidFill>
                  <a:srgbClr val="38761D"/>
                </a:solidFill>
              </a:rPr>
              <a:t>¡Eh!</a:t>
            </a:r>
            <a:r>
              <a:rPr lang="es">
                <a:solidFill>
                  <a:srgbClr val="FF9900"/>
                </a:solidFill>
              </a:rPr>
              <a:t>,</a:t>
            </a:r>
            <a:r>
              <a:rPr lang="es">
                <a:solidFill>
                  <a:srgbClr val="38761D"/>
                </a:solidFill>
              </a:rPr>
              <a:t> creo que no entendí lo que me quería decir.</a:t>
            </a:r>
            <a:endParaRPr>
              <a:solidFill>
                <a:srgbClr val="38761D"/>
              </a:solidFill>
            </a:endParaRPr>
          </a:p>
          <a:p>
            <a:pPr indent="0" lvl="0" marL="0" rtl="0" algn="l">
              <a:spcBef>
                <a:spcPts val="1200"/>
              </a:spcBef>
              <a:spcAft>
                <a:spcPts val="1200"/>
              </a:spcAft>
              <a:buNone/>
            </a:pPr>
            <a:r>
              <a:rPr lang="es">
                <a:solidFill>
                  <a:srgbClr val="38761D"/>
                </a:solidFill>
              </a:rPr>
              <a:t>¡Bravo!</a:t>
            </a:r>
            <a:r>
              <a:rPr lang="es">
                <a:solidFill>
                  <a:srgbClr val="FF9900"/>
                </a:solidFill>
              </a:rPr>
              <a:t>,</a:t>
            </a:r>
            <a:r>
              <a:rPr lang="es">
                <a:solidFill>
                  <a:srgbClr val="38761D"/>
                </a:solidFill>
              </a:rPr>
              <a:t> por fin pudo regresar a casa.</a:t>
            </a:r>
            <a:endParaRPr>
              <a:solidFill>
                <a:srgbClr val="38761D"/>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565" name="Google Shape;565;p9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Separar interjecciones - Ejercicio</a:t>
            </a:r>
            <a:endParaRPr b="1"/>
          </a:p>
          <a:p>
            <a:pPr indent="0" lvl="0" marL="0" rtl="0" algn="just">
              <a:spcBef>
                <a:spcPts val="1200"/>
              </a:spcBef>
              <a:spcAft>
                <a:spcPts val="0"/>
              </a:spcAft>
              <a:buNone/>
            </a:pPr>
            <a:r>
              <a:t/>
            </a:r>
            <a:endParaRPr/>
          </a:p>
          <a:p>
            <a:pPr indent="0" lvl="0" marL="0" rtl="0" algn="ctr">
              <a:spcBef>
                <a:spcPts val="1200"/>
              </a:spcBef>
              <a:spcAft>
                <a:spcPts val="1200"/>
              </a:spcAft>
              <a:buNone/>
            </a:pPr>
            <a:r>
              <a:rPr lang="es"/>
              <a:t>Redacta una oración empleando una interjección.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9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571" name="Google Shape;571;p9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5</a:t>
            </a:r>
            <a:r>
              <a:rPr b="1" lang="es"/>
              <a:t>. Separar expresiones que sirven para conectar oraciones.</a:t>
            </a:r>
            <a:endParaRPr b="1"/>
          </a:p>
          <a:p>
            <a:pPr indent="0" lvl="0" marL="0" rtl="0" algn="l">
              <a:spcBef>
                <a:spcPts val="1200"/>
              </a:spcBef>
              <a:spcAft>
                <a:spcPts val="0"/>
              </a:spcAft>
              <a:buNone/>
            </a:pPr>
            <a:r>
              <a:rPr lang="es">
                <a:solidFill>
                  <a:srgbClr val="38761D"/>
                </a:solidFill>
              </a:rPr>
              <a:t>No me gusta el colegio</a:t>
            </a:r>
            <a:r>
              <a:rPr lang="es">
                <a:solidFill>
                  <a:srgbClr val="FF9900"/>
                </a:solidFill>
              </a:rPr>
              <a:t>, mejor dicho,</a:t>
            </a:r>
            <a:r>
              <a:rPr lang="es">
                <a:solidFill>
                  <a:srgbClr val="38761D"/>
                </a:solidFill>
              </a:rPr>
              <a:t> no me gusta estudiar.</a:t>
            </a:r>
            <a:endParaRPr>
              <a:solidFill>
                <a:srgbClr val="38761D"/>
              </a:solidFill>
            </a:endParaRPr>
          </a:p>
          <a:p>
            <a:pPr indent="0" lvl="0" marL="0" rtl="0" algn="l">
              <a:spcBef>
                <a:spcPts val="1200"/>
              </a:spcBef>
              <a:spcAft>
                <a:spcPts val="0"/>
              </a:spcAft>
              <a:buNone/>
            </a:pPr>
            <a:r>
              <a:rPr lang="es">
                <a:solidFill>
                  <a:srgbClr val="FF9900"/>
                </a:solidFill>
              </a:rPr>
              <a:t>Por último,</a:t>
            </a:r>
            <a:r>
              <a:rPr lang="es">
                <a:solidFill>
                  <a:srgbClr val="38761D"/>
                </a:solidFill>
              </a:rPr>
              <a:t> me despido de todos.</a:t>
            </a:r>
            <a:endParaRPr>
              <a:solidFill>
                <a:srgbClr val="38761D"/>
              </a:solidFill>
            </a:endParaRPr>
          </a:p>
          <a:p>
            <a:pPr indent="0" lvl="0" marL="0" rtl="0" algn="l">
              <a:spcBef>
                <a:spcPts val="1200"/>
              </a:spcBef>
              <a:spcAft>
                <a:spcPts val="1200"/>
              </a:spcAft>
              <a:buNone/>
            </a:pPr>
            <a:r>
              <a:rPr lang="es">
                <a:solidFill>
                  <a:srgbClr val="FF9900"/>
                </a:solidFill>
              </a:rPr>
              <a:t>En primer lugar,</a:t>
            </a:r>
            <a:r>
              <a:rPr lang="es">
                <a:solidFill>
                  <a:srgbClr val="38761D"/>
                </a:solidFill>
              </a:rPr>
              <a:t> debemos tener todo preparado para la tarde.</a:t>
            </a:r>
            <a:endParaRPr>
              <a:solidFill>
                <a:srgbClr val="38761D"/>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graphicFrame>
        <p:nvGraphicFramePr>
          <p:cNvPr id="577" name="Google Shape;577;p93"/>
          <p:cNvGraphicFramePr/>
          <p:nvPr/>
        </p:nvGraphicFramePr>
        <p:xfrm>
          <a:off x="311688" y="1229875"/>
          <a:ext cx="3000000" cy="3000000"/>
        </p:xfrm>
        <a:graphic>
          <a:graphicData uri="http://schemas.openxmlformats.org/drawingml/2006/table">
            <a:tbl>
              <a:tblPr>
                <a:noFill/>
                <a:tableStyleId>{F5AF1485-0047-4A64-801A-5D2B463FD8BA}</a:tableStyleId>
              </a:tblPr>
              <a:tblGrid>
                <a:gridCol w="1704125"/>
                <a:gridCol w="1704125"/>
                <a:gridCol w="1704125"/>
                <a:gridCol w="1704125"/>
                <a:gridCol w="1704125"/>
              </a:tblGrid>
              <a:tr h="302400">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a saber</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además</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ahora bien</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con todo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en cambio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02400">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en fin</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en primer lugar</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en resumen</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en tal caso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es decir</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66675">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esto es</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mejor dicho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no obstante</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o sea</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consiguiente</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66675">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ejemplo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el contrario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lo tanto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tanto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último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66675">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un/otro lado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por una/otra parte</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pues bien</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500">
                          <a:solidFill>
                            <a:srgbClr val="695D46"/>
                          </a:solidFill>
                          <a:latin typeface="Roboto"/>
                          <a:ea typeface="Roboto"/>
                          <a:cs typeface="Roboto"/>
                          <a:sym typeface="Roboto"/>
                        </a:rPr>
                        <a:t>sin embargo</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500">
                        <a:solidFill>
                          <a:srgbClr val="695D46"/>
                        </a:solidFill>
                        <a:latin typeface="Roboto"/>
                        <a:ea typeface="Roboto"/>
                        <a:cs typeface="Roboto"/>
                        <a:sym typeface="Robot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583" name="Google Shape;583;p9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Separar expresiones que conectan oraciones - Ejercicio</a:t>
            </a:r>
            <a:endParaRPr b="1"/>
          </a:p>
          <a:p>
            <a:pPr indent="0" lvl="0" marL="0" rtl="0" algn="just">
              <a:spcBef>
                <a:spcPts val="1200"/>
              </a:spcBef>
              <a:spcAft>
                <a:spcPts val="0"/>
              </a:spcAft>
              <a:buNone/>
            </a:pPr>
            <a:r>
              <a:t/>
            </a:r>
            <a:endParaRPr/>
          </a:p>
          <a:p>
            <a:pPr indent="0" lvl="0" marL="0" rtl="0" algn="ctr">
              <a:spcBef>
                <a:spcPts val="1200"/>
              </a:spcBef>
              <a:spcAft>
                <a:spcPts val="1200"/>
              </a:spcAft>
              <a:buNone/>
            </a:pPr>
            <a:r>
              <a:rPr lang="es"/>
              <a:t>Redacta una oración empleando una expresión conectora.</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5"/>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589" name="Google Shape;589;p95"/>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17 agosto, 2026</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595" name="Google Shape;595;p9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Uso de la coma (continuación)</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9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601" name="Google Shape;601;p9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6</a:t>
            </a:r>
            <a:r>
              <a:rPr b="1" lang="es"/>
              <a:t>. Separar adverbios</a:t>
            </a:r>
            <a:endParaRPr b="1"/>
          </a:p>
          <a:p>
            <a:pPr indent="-342900" lvl="0" marL="457200" rtl="0" algn="just">
              <a:spcBef>
                <a:spcPts val="1200"/>
              </a:spcBef>
              <a:spcAft>
                <a:spcPts val="0"/>
              </a:spcAft>
              <a:buSzPts val="1800"/>
              <a:buChar char="●"/>
            </a:pPr>
            <a:r>
              <a:rPr lang="es"/>
              <a:t>Adverbio de modo: </a:t>
            </a:r>
            <a:r>
              <a:rPr lang="es"/>
              <a:t>naturalmente</a:t>
            </a:r>
            <a:endParaRPr/>
          </a:p>
          <a:p>
            <a:pPr indent="-342900" lvl="0" marL="457200" rtl="0" algn="just">
              <a:spcBef>
                <a:spcPts val="0"/>
              </a:spcBef>
              <a:spcAft>
                <a:spcPts val="0"/>
              </a:spcAft>
              <a:buSzPts val="1800"/>
              <a:buChar char="●"/>
            </a:pPr>
            <a:r>
              <a:rPr lang="es"/>
              <a:t>Adverbio de afirmación: efectivamente</a:t>
            </a:r>
            <a:endParaRPr/>
          </a:p>
          <a:p>
            <a:pPr indent="-342900" lvl="0" marL="457200" rtl="0" algn="just">
              <a:spcBef>
                <a:spcPts val="0"/>
              </a:spcBef>
              <a:spcAft>
                <a:spcPts val="0"/>
              </a:spcAft>
              <a:buSzPts val="1800"/>
              <a:buChar char="●"/>
            </a:pPr>
            <a:r>
              <a:rPr lang="es"/>
              <a:t>Adverbio de tiempo: </a:t>
            </a:r>
            <a:r>
              <a:rPr lang="es"/>
              <a:t>generalmente</a:t>
            </a:r>
            <a:endParaRPr/>
          </a:p>
          <a:p>
            <a:pPr indent="0" lvl="0" marL="0" marR="381000" rtl="0" algn="l">
              <a:spcBef>
                <a:spcPts val="1200"/>
              </a:spcBef>
              <a:spcAft>
                <a:spcPts val="0"/>
              </a:spcAft>
              <a:buNone/>
            </a:pPr>
            <a:r>
              <a:rPr lang="es"/>
              <a:t>Ejemplo:</a:t>
            </a:r>
            <a:endParaRPr/>
          </a:p>
          <a:p>
            <a:pPr indent="0" lvl="0" marL="0" rtl="0" algn="l">
              <a:spcBef>
                <a:spcPts val="1200"/>
              </a:spcBef>
              <a:spcAft>
                <a:spcPts val="1200"/>
              </a:spcAft>
              <a:buNone/>
            </a:pPr>
            <a:r>
              <a:rPr lang="es">
                <a:solidFill>
                  <a:srgbClr val="38761D"/>
                </a:solidFill>
              </a:rPr>
              <a:t>Ambos estábamos en la entrada del cine y ya estaba oscuro</a:t>
            </a:r>
            <a:r>
              <a:rPr lang="es">
                <a:solidFill>
                  <a:srgbClr val="FF9900"/>
                </a:solidFill>
              </a:rPr>
              <a:t>,</a:t>
            </a:r>
            <a:r>
              <a:rPr lang="es">
                <a:solidFill>
                  <a:srgbClr val="38761D"/>
                </a:solidFill>
              </a:rPr>
              <a:t> naturalmente</a:t>
            </a:r>
            <a:r>
              <a:rPr lang="es">
                <a:solidFill>
                  <a:srgbClr val="FF9900"/>
                </a:solidFill>
              </a:rPr>
              <a:t>,</a:t>
            </a:r>
            <a:r>
              <a:rPr lang="es">
                <a:solidFill>
                  <a:srgbClr val="38761D"/>
                </a:solidFill>
              </a:rPr>
              <a:t> él tuvo que irse porque era tarde.</a:t>
            </a:r>
            <a:endParaRPr>
              <a:solidFill>
                <a:srgbClr val="38761D"/>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9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607" name="Google Shape;607;p9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7</a:t>
            </a:r>
            <a:r>
              <a:rPr b="1" lang="es"/>
              <a:t>. Separar elementos </a:t>
            </a:r>
            <a:r>
              <a:rPr b="1" lang="es"/>
              <a:t>con carácter incidental o causal dentro de la oración.</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lang="es"/>
              <a:t>Ejemplo:</a:t>
            </a:r>
            <a:endParaRPr/>
          </a:p>
          <a:p>
            <a:pPr indent="0" lvl="0" marL="0" rtl="0" algn="l">
              <a:spcBef>
                <a:spcPts val="1200"/>
              </a:spcBef>
              <a:spcAft>
                <a:spcPts val="0"/>
              </a:spcAft>
              <a:buNone/>
            </a:pPr>
            <a:r>
              <a:rPr lang="es">
                <a:solidFill>
                  <a:srgbClr val="38761D"/>
                </a:solidFill>
              </a:rPr>
              <a:t>Cuando me desperté</a:t>
            </a:r>
            <a:r>
              <a:rPr lang="es">
                <a:solidFill>
                  <a:srgbClr val="FF9900"/>
                </a:solidFill>
              </a:rPr>
              <a:t>,</a:t>
            </a:r>
            <a:r>
              <a:rPr lang="es">
                <a:solidFill>
                  <a:srgbClr val="38761D"/>
                </a:solidFill>
              </a:rPr>
              <a:t> ella estaba incorporada en las almohadas.</a:t>
            </a:r>
            <a:endParaRPr>
              <a:solidFill>
                <a:srgbClr val="38761D"/>
              </a:solidFill>
            </a:endParaRPr>
          </a:p>
          <a:p>
            <a:pPr indent="0" lvl="0" marL="0" rtl="0" algn="l">
              <a:spcBef>
                <a:spcPts val="1200"/>
              </a:spcBef>
              <a:spcAft>
                <a:spcPts val="1200"/>
              </a:spcAft>
              <a:buNone/>
            </a:pPr>
            <a:r>
              <a:rPr lang="es">
                <a:solidFill>
                  <a:srgbClr val="38761D"/>
                </a:solidFill>
              </a:rPr>
              <a:t>Si no comes un poco</a:t>
            </a:r>
            <a:r>
              <a:rPr lang="es">
                <a:solidFill>
                  <a:srgbClr val="FF9900"/>
                </a:solidFill>
              </a:rPr>
              <a:t>,</a:t>
            </a:r>
            <a:r>
              <a:rPr lang="es">
                <a:solidFill>
                  <a:srgbClr val="38761D"/>
                </a:solidFill>
              </a:rPr>
              <a:t> te pondrás enfermo.</a:t>
            </a:r>
            <a:endParaRPr>
              <a:solidFill>
                <a:srgbClr val="38761D"/>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9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613" name="Google Shape;613;p9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8</a:t>
            </a:r>
            <a:r>
              <a:rPr b="1" lang="es"/>
              <a:t>. Conjunciones </a:t>
            </a:r>
            <a:r>
              <a:rPr lang="es"/>
              <a:t>(y, e, ni, o, u) </a:t>
            </a:r>
            <a:endParaRPr/>
          </a:p>
          <a:p>
            <a:pPr indent="-342900" lvl="0" marL="457200" rtl="0" algn="just">
              <a:spcBef>
                <a:spcPts val="1200"/>
              </a:spcBef>
              <a:spcAft>
                <a:spcPts val="0"/>
              </a:spcAft>
              <a:buSzPts val="1800"/>
              <a:buChar char="●"/>
            </a:pPr>
            <a:r>
              <a:rPr lang="es"/>
              <a:t>La coma se escribe delante de las conjunciones cuando engloba los elementos del predicando pero no forma parte de los elementos listados.</a:t>
            </a:r>
            <a:endParaRPr/>
          </a:p>
          <a:p>
            <a:pPr indent="0" lvl="0" marL="0" rtl="0" algn="l">
              <a:spcBef>
                <a:spcPts val="1200"/>
              </a:spcBef>
              <a:spcAft>
                <a:spcPts val="0"/>
              </a:spcAft>
              <a:buNone/>
            </a:pPr>
            <a:r>
              <a:rPr lang="es"/>
              <a:t>Ejemplo:</a:t>
            </a:r>
            <a:endParaRPr>
              <a:solidFill>
                <a:srgbClr val="38761D"/>
              </a:solidFill>
            </a:endParaRPr>
          </a:p>
          <a:p>
            <a:pPr indent="0" lvl="0" marL="0" rtl="0" algn="l">
              <a:spcBef>
                <a:spcPts val="1200"/>
              </a:spcBef>
              <a:spcAft>
                <a:spcPts val="0"/>
              </a:spcAft>
              <a:buNone/>
            </a:pPr>
            <a:r>
              <a:rPr lang="es">
                <a:solidFill>
                  <a:srgbClr val="38761D"/>
                </a:solidFill>
              </a:rPr>
              <a:t>Debía comprar dulces, chocolates y un bizcocho</a:t>
            </a:r>
            <a:r>
              <a:rPr lang="es">
                <a:solidFill>
                  <a:srgbClr val="FF9900"/>
                </a:solidFill>
              </a:rPr>
              <a:t>,</a:t>
            </a:r>
            <a:r>
              <a:rPr lang="es">
                <a:solidFill>
                  <a:srgbClr val="38761D"/>
                </a:solidFill>
              </a:rPr>
              <a:t> ni uno de ellos trajo.</a:t>
            </a:r>
            <a:endParaRPr>
              <a:solidFill>
                <a:srgbClr val="38761D"/>
              </a:solidFill>
            </a:endParaRPr>
          </a:p>
          <a:p>
            <a:pPr indent="0" lvl="0" marL="0" rtl="0" algn="l">
              <a:spcBef>
                <a:spcPts val="1200"/>
              </a:spcBef>
              <a:spcAft>
                <a:spcPts val="1200"/>
              </a:spcAft>
              <a:buNone/>
            </a:pPr>
            <a:r>
              <a:rPr lang="es">
                <a:solidFill>
                  <a:srgbClr val="38761D"/>
                </a:solidFill>
              </a:rPr>
              <a:t>Ana coloreó un corazón, una flor, una mariposa y un oso</a:t>
            </a:r>
            <a:r>
              <a:rPr lang="es">
                <a:solidFill>
                  <a:srgbClr val="FF9900"/>
                </a:solidFill>
              </a:rPr>
              <a:t>,</a:t>
            </a:r>
            <a:r>
              <a:rPr lang="es">
                <a:solidFill>
                  <a:srgbClr val="38761D"/>
                </a:solidFill>
              </a:rPr>
              <a:t> y también los pegó en su cuaderno.</a:t>
            </a:r>
            <a:endParaRPr>
              <a:solidFill>
                <a:srgbClr val="38761D"/>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619" name="Google Shape;619;p10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8. Conjunciones </a:t>
            </a:r>
            <a:r>
              <a:rPr lang="es"/>
              <a:t>(y, e, ni, o, u) </a:t>
            </a:r>
            <a:endParaRPr/>
          </a:p>
          <a:p>
            <a:pPr indent="0" lvl="0" marL="0" rtl="0" algn="just">
              <a:spcBef>
                <a:spcPts val="1200"/>
              </a:spcBef>
              <a:spcAft>
                <a:spcPts val="0"/>
              </a:spcAft>
              <a:buNone/>
            </a:pPr>
            <a:r>
              <a:t/>
            </a:r>
            <a:endParaRPr/>
          </a:p>
          <a:p>
            <a:pPr indent="0" lvl="0" marL="0" rtl="0" algn="l">
              <a:spcBef>
                <a:spcPts val="1200"/>
              </a:spcBef>
              <a:spcAft>
                <a:spcPts val="0"/>
              </a:spcAft>
              <a:buNone/>
            </a:pPr>
            <a:r>
              <a:rPr lang="es"/>
              <a:t>Ejemplo:</a:t>
            </a:r>
            <a:endParaRPr>
              <a:solidFill>
                <a:srgbClr val="38761D"/>
              </a:solidFill>
            </a:endParaRPr>
          </a:p>
          <a:p>
            <a:pPr indent="0" lvl="0" marL="0" rtl="0" algn="l">
              <a:spcBef>
                <a:spcPts val="1200"/>
              </a:spcBef>
              <a:spcAft>
                <a:spcPts val="1200"/>
              </a:spcAft>
              <a:buNone/>
            </a:pPr>
            <a:r>
              <a:rPr lang="es">
                <a:solidFill>
                  <a:srgbClr val="38761D"/>
                </a:solidFill>
              </a:rPr>
              <a:t>Cambié el techo, piso y decoración interior de una mansión</a:t>
            </a:r>
            <a:r>
              <a:rPr lang="es">
                <a:solidFill>
                  <a:srgbClr val="FF9900"/>
                </a:solidFill>
              </a:rPr>
              <a:t>,</a:t>
            </a:r>
            <a:r>
              <a:rPr lang="es">
                <a:solidFill>
                  <a:srgbClr val="38761D"/>
                </a:solidFill>
              </a:rPr>
              <a:t> y los dueños quedaron satisfechos con mi trabajo.</a:t>
            </a:r>
            <a:endParaRPr>
              <a:solidFill>
                <a:srgbClr val="38761D"/>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0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a:t>
            </a:r>
            <a:endParaRPr/>
          </a:p>
        </p:txBody>
      </p:sp>
      <p:sp>
        <p:nvSpPr>
          <p:cNvPr id="625" name="Google Shape;625;p10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8. Conjunciones </a:t>
            </a:r>
            <a:r>
              <a:rPr lang="es"/>
              <a:t>(y, e, ni, o, u) </a:t>
            </a:r>
            <a:endParaRPr/>
          </a:p>
          <a:p>
            <a:pPr indent="0" lvl="0" marL="0" rtl="0" algn="just">
              <a:spcBef>
                <a:spcPts val="1200"/>
              </a:spcBef>
              <a:spcAft>
                <a:spcPts val="0"/>
              </a:spcAft>
              <a:buNone/>
            </a:pPr>
            <a:r>
              <a:rPr lang="es"/>
              <a:t>La coma se escribe cuando la conjunción tiene un sentido </a:t>
            </a:r>
            <a:r>
              <a:rPr b="1" lang="es"/>
              <a:t>equivalente</a:t>
            </a:r>
            <a:r>
              <a:rPr lang="es"/>
              <a:t> </a:t>
            </a:r>
            <a:r>
              <a:rPr b="1" lang="es"/>
              <a:t>a la palabra pero.</a:t>
            </a:r>
            <a:endParaRPr b="1"/>
          </a:p>
          <a:p>
            <a:pPr indent="0" lvl="0" marL="0" rtl="0" algn="l">
              <a:spcBef>
                <a:spcPts val="1200"/>
              </a:spcBef>
              <a:spcAft>
                <a:spcPts val="0"/>
              </a:spcAft>
              <a:buNone/>
            </a:pPr>
            <a:r>
              <a:rPr lang="es"/>
              <a:t>Ejemplo:</a:t>
            </a:r>
            <a:endParaRPr>
              <a:solidFill>
                <a:srgbClr val="38761D"/>
              </a:solidFill>
            </a:endParaRPr>
          </a:p>
          <a:p>
            <a:pPr indent="0" lvl="0" marL="0" rtl="0" algn="l">
              <a:spcBef>
                <a:spcPts val="1200"/>
              </a:spcBef>
              <a:spcAft>
                <a:spcPts val="1200"/>
              </a:spcAft>
              <a:buNone/>
            </a:pPr>
            <a:r>
              <a:rPr lang="es">
                <a:solidFill>
                  <a:srgbClr val="38761D"/>
                </a:solidFill>
              </a:rPr>
              <a:t>Le dijimos a José que no debía hacerlo</a:t>
            </a:r>
            <a:r>
              <a:rPr lang="es">
                <a:solidFill>
                  <a:srgbClr val="FF9900"/>
                </a:solidFill>
              </a:rPr>
              <a:t>,</a:t>
            </a:r>
            <a:r>
              <a:rPr lang="es">
                <a:solidFill>
                  <a:srgbClr val="38761D"/>
                </a:solidFill>
              </a:rPr>
              <a:t> y aún así arriesgó todo.</a:t>
            </a:r>
            <a:endParaRPr>
              <a:solidFill>
                <a:srgbClr val="38761D"/>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0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Content - Revisión QA x DI</a:t>
            </a:r>
            <a:endParaRPr/>
          </a:p>
        </p:txBody>
      </p:sp>
      <p:sp>
        <p:nvSpPr>
          <p:cNvPr id="631" name="Google Shape;631;p10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17 septiembre, 2026</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Orden del día</a:t>
            </a:r>
            <a:endParaRPr/>
          </a:p>
        </p:txBody>
      </p:sp>
      <p:sp>
        <p:nvSpPr>
          <p:cNvPr id="637" name="Google Shape;637;p10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Uso de la coma (formulario)</a:t>
            </a:r>
            <a:endParaRPr/>
          </a:p>
          <a:p>
            <a:pPr indent="-342900" lvl="0" marL="457200" rtl="0" algn="l">
              <a:spcBef>
                <a:spcPts val="0"/>
              </a:spcBef>
              <a:spcAft>
                <a:spcPts val="0"/>
              </a:spcAft>
              <a:buSzPts val="1800"/>
              <a:buAutoNum type="arabicPeriod"/>
            </a:pPr>
            <a:r>
              <a:rPr lang="es"/>
              <a:t>¿Tú o usted?</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0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 (formulario)</a:t>
            </a:r>
            <a:endParaRPr/>
          </a:p>
        </p:txBody>
      </p:sp>
      <p:pic>
        <p:nvPicPr>
          <p:cNvPr id="643" name="Google Shape;643;p104"/>
          <p:cNvPicPr preferRelativeResize="0"/>
          <p:nvPr/>
        </p:nvPicPr>
        <p:blipFill>
          <a:blip r:embed="rId3">
            <a:alphaModFix/>
          </a:blip>
          <a:stretch>
            <a:fillRect/>
          </a:stretch>
        </p:blipFill>
        <p:spPr>
          <a:xfrm>
            <a:off x="649600" y="1315425"/>
            <a:ext cx="5509351" cy="3574999"/>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0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Uso de la coma (formulario)</a:t>
            </a:r>
            <a:endParaRPr/>
          </a:p>
        </p:txBody>
      </p:sp>
      <p:pic>
        <p:nvPicPr>
          <p:cNvPr id="649" name="Google Shape;649;p105"/>
          <p:cNvPicPr preferRelativeResize="0"/>
          <p:nvPr/>
        </p:nvPicPr>
        <p:blipFill>
          <a:blip r:embed="rId3">
            <a:alphaModFix/>
          </a:blip>
          <a:stretch>
            <a:fillRect/>
          </a:stretch>
        </p:blipFill>
        <p:spPr>
          <a:xfrm>
            <a:off x="664380" y="1315425"/>
            <a:ext cx="5509350" cy="355304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0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¿Tú o usted?</a:t>
            </a:r>
            <a:endParaRPr/>
          </a:p>
        </p:txBody>
      </p:sp>
      <p:sp>
        <p:nvSpPr>
          <p:cNvPr id="655" name="Google Shape;655;p10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1. Mezcla de tratamientos</a:t>
            </a:r>
            <a:endParaRPr/>
          </a:p>
          <a:p>
            <a:pPr indent="0" lvl="0" marL="0" rtl="0" algn="just">
              <a:spcBef>
                <a:spcPts val="1200"/>
              </a:spcBef>
              <a:spcAft>
                <a:spcPts val="0"/>
              </a:spcAft>
              <a:buNone/>
            </a:pPr>
            <a:r>
              <a:rPr lang="es"/>
              <a:t>Empezar tuteando y pasar a usted en la misma sección/recurso.</a:t>
            </a:r>
            <a:endParaRPr/>
          </a:p>
          <a:p>
            <a:pPr indent="0" lvl="0" marL="0" rtl="0" algn="l">
              <a:spcBef>
                <a:spcPts val="1200"/>
              </a:spcBef>
              <a:spcAft>
                <a:spcPts val="0"/>
              </a:spcAft>
              <a:buNone/>
            </a:pPr>
            <a:r>
              <a:rPr lang="es"/>
              <a:t>Ejemplo:</a:t>
            </a:r>
            <a:endParaRPr/>
          </a:p>
          <a:p>
            <a:pPr indent="0" lvl="0" marL="457200" rtl="0" algn="l">
              <a:spcBef>
                <a:spcPts val="1200"/>
              </a:spcBef>
              <a:spcAft>
                <a:spcPts val="0"/>
              </a:spcAft>
              <a:buNone/>
            </a:pPr>
            <a:r>
              <a:rPr lang="es">
                <a:solidFill>
                  <a:srgbClr val="38761D"/>
                </a:solidFill>
              </a:rPr>
              <a:t>Paso 1. Descarga tu plantilla</a:t>
            </a:r>
            <a:endParaRPr>
              <a:solidFill>
                <a:srgbClr val="38761D"/>
              </a:solidFill>
            </a:endParaRPr>
          </a:p>
          <a:p>
            <a:pPr indent="0" lvl="0" marL="457200" rtl="0" algn="l">
              <a:spcBef>
                <a:spcPts val="1200"/>
              </a:spcBef>
              <a:spcAft>
                <a:spcPts val="1200"/>
              </a:spcAft>
              <a:buNone/>
            </a:pPr>
            <a:r>
              <a:rPr lang="es">
                <a:solidFill>
                  <a:srgbClr val="38761D"/>
                </a:solidFill>
              </a:rPr>
              <a:t>Paso 2. Envíe su archivo</a:t>
            </a:r>
            <a:endParaRPr>
              <a:solidFill>
                <a:srgbClr val="38761D"/>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0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¿Tú o usted?</a:t>
            </a:r>
            <a:endParaRPr/>
          </a:p>
        </p:txBody>
      </p:sp>
      <p:sp>
        <p:nvSpPr>
          <p:cNvPr id="661" name="Google Shape;661;p10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2</a:t>
            </a:r>
            <a:r>
              <a:rPr b="1" lang="es"/>
              <a:t>. El “usted” distante</a:t>
            </a:r>
            <a:endParaRPr/>
          </a:p>
          <a:p>
            <a:pPr indent="0" lvl="0" marL="0" rtl="0" algn="just">
              <a:spcBef>
                <a:spcPts val="1200"/>
              </a:spcBef>
              <a:spcAft>
                <a:spcPts val="0"/>
              </a:spcAft>
              <a:buNone/>
            </a:pPr>
            <a:r>
              <a:rPr lang="es"/>
              <a:t>T</a:t>
            </a:r>
            <a:r>
              <a:rPr lang="es"/>
              <a:t>iende a arrastrar estructuras pasivas, burocráticas.</a:t>
            </a:r>
            <a:endParaRPr/>
          </a:p>
          <a:p>
            <a:pPr indent="0" lvl="0" marL="0" rtl="0" algn="l">
              <a:spcBef>
                <a:spcPts val="1200"/>
              </a:spcBef>
              <a:spcAft>
                <a:spcPts val="0"/>
              </a:spcAft>
              <a:buNone/>
            </a:pPr>
            <a:r>
              <a:rPr lang="es"/>
              <a:t>Ejemplo:</a:t>
            </a:r>
            <a:endParaRPr/>
          </a:p>
          <a:p>
            <a:pPr indent="0" lvl="0" marL="0" rtl="0" algn="l">
              <a:spcBef>
                <a:spcPts val="1200"/>
              </a:spcBef>
              <a:spcAft>
                <a:spcPts val="0"/>
              </a:spcAft>
              <a:buNone/>
            </a:pPr>
            <a:r>
              <a:rPr lang="es">
                <a:solidFill>
                  <a:srgbClr val="38761D"/>
                </a:solidFill>
              </a:rPr>
              <a:t>🥶 </a:t>
            </a:r>
            <a:r>
              <a:rPr lang="es" sz="1800">
                <a:solidFill>
                  <a:srgbClr val="38761D"/>
                </a:solidFill>
              </a:rPr>
              <a:t>"El participante deberá considerar..."</a:t>
            </a:r>
            <a:endParaRPr>
              <a:solidFill>
                <a:srgbClr val="38761D"/>
              </a:solidFill>
            </a:endParaRPr>
          </a:p>
          <a:p>
            <a:pPr indent="0" lvl="0" marL="0" rtl="0" algn="l">
              <a:spcBef>
                <a:spcPts val="1200"/>
              </a:spcBef>
              <a:spcAft>
                <a:spcPts val="1200"/>
              </a:spcAft>
              <a:buNone/>
            </a:pPr>
            <a:r>
              <a:rPr lang="es">
                <a:solidFill>
                  <a:srgbClr val="38761D"/>
                </a:solidFill>
              </a:rPr>
              <a:t>🤗 “</a:t>
            </a:r>
            <a:r>
              <a:rPr lang="es">
                <a:solidFill>
                  <a:srgbClr val="38761D"/>
                </a:solidFill>
              </a:rPr>
              <a:t>Tome en cuenta este detalle antes de avanzar"</a:t>
            </a:r>
            <a:endParaRPr>
              <a:solidFill>
                <a:srgbClr val="38761D"/>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0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¿Tú o usted?</a:t>
            </a:r>
            <a:endParaRPr/>
          </a:p>
        </p:txBody>
      </p:sp>
      <p:sp>
        <p:nvSpPr>
          <p:cNvPr id="667" name="Google Shape;667;p10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a:t>3</a:t>
            </a:r>
            <a:r>
              <a:rPr b="1" lang="es"/>
              <a:t>. El “</a:t>
            </a:r>
            <a:r>
              <a:rPr b="1" lang="es"/>
              <a:t>tú</a:t>
            </a:r>
            <a:r>
              <a:rPr b="1" lang="es"/>
              <a:t>” artificial</a:t>
            </a:r>
            <a:endParaRPr/>
          </a:p>
          <a:p>
            <a:pPr indent="0" lvl="0" marL="0" rtl="0" algn="just">
              <a:spcBef>
                <a:spcPts val="1200"/>
              </a:spcBef>
              <a:spcAft>
                <a:spcPts val="0"/>
              </a:spcAft>
              <a:buNone/>
            </a:pPr>
            <a:r>
              <a:rPr lang="es"/>
              <a:t>Forzar modismos juveniles o un tuteo excesivamente coloquial.</a:t>
            </a:r>
            <a:endParaRPr/>
          </a:p>
          <a:p>
            <a:pPr indent="0" lvl="0" marL="0" rtl="0" algn="l">
              <a:spcBef>
                <a:spcPts val="1200"/>
              </a:spcBef>
              <a:spcAft>
                <a:spcPts val="0"/>
              </a:spcAft>
              <a:buNone/>
            </a:pPr>
            <a:r>
              <a:rPr lang="es"/>
              <a:t>Ejemplo:</a:t>
            </a:r>
            <a:endParaRPr/>
          </a:p>
          <a:p>
            <a:pPr indent="0" lvl="0" marL="0" rtl="0" algn="l">
              <a:spcBef>
                <a:spcPts val="1200"/>
              </a:spcBef>
              <a:spcAft>
                <a:spcPts val="0"/>
              </a:spcAft>
              <a:buNone/>
            </a:pPr>
            <a:r>
              <a:rPr lang="es">
                <a:solidFill>
                  <a:srgbClr val="38761D"/>
                </a:solidFill>
              </a:rPr>
              <a:t>🤨</a:t>
            </a:r>
            <a:r>
              <a:rPr lang="es">
                <a:solidFill>
                  <a:srgbClr val="38761D"/>
                </a:solidFill>
              </a:rPr>
              <a:t> </a:t>
            </a:r>
            <a:r>
              <a:rPr lang="es">
                <a:solidFill>
                  <a:srgbClr val="38761D"/>
                </a:solidFill>
              </a:rPr>
              <a:t>"Sabemos que a veces da flojerita llenar formatos. Tómate un tiempito, prepárate un cafecito y platícanos aquí tus súper logros. ¡Tú puedes, crack!" </a:t>
            </a:r>
            <a:endParaRPr>
              <a:solidFill>
                <a:srgbClr val="38761D"/>
              </a:solidFill>
            </a:endParaRPr>
          </a:p>
          <a:p>
            <a:pPr indent="0" lvl="0" marL="0" rtl="0" algn="l">
              <a:spcBef>
                <a:spcPts val="1200"/>
              </a:spcBef>
              <a:spcAft>
                <a:spcPts val="1200"/>
              </a:spcAft>
              <a:buNone/>
            </a:pPr>
            <a:r>
              <a:rPr lang="es">
                <a:solidFill>
                  <a:srgbClr val="38761D"/>
                </a:solidFill>
              </a:rPr>
              <a:t>😎</a:t>
            </a:r>
            <a:r>
              <a:rPr lang="es">
                <a:solidFill>
                  <a:srgbClr val="38761D"/>
                </a:solidFill>
              </a:rPr>
              <a:t> </a:t>
            </a:r>
            <a:r>
              <a:rPr lang="es">
                <a:solidFill>
                  <a:srgbClr val="38761D"/>
                </a:solidFill>
              </a:rPr>
              <a:t>"Tu autoevaluación anual es el espacio para reflexionar sobre tus metas y el impacto de tu trabajo. Antes de comenzar, te sugerimos revisar tus proyectos clave de los últimos meses" </a:t>
            </a:r>
            <a:endParaRPr>
              <a:solidFill>
                <a:srgbClr val="38761D"/>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0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¿Tú o usted?</a:t>
            </a:r>
            <a:endParaRPr/>
          </a:p>
        </p:txBody>
      </p:sp>
      <p:graphicFrame>
        <p:nvGraphicFramePr>
          <p:cNvPr id="673" name="Google Shape;673;p109"/>
          <p:cNvGraphicFramePr/>
          <p:nvPr/>
        </p:nvGraphicFramePr>
        <p:xfrm>
          <a:off x="512775" y="1270250"/>
          <a:ext cx="3000000" cy="3000000"/>
        </p:xfrm>
        <a:graphic>
          <a:graphicData uri="http://schemas.openxmlformats.org/drawingml/2006/table">
            <a:tbl>
              <a:tblPr>
                <a:noFill/>
                <a:tableStyleId>{F5AF1485-0047-4A64-801A-5D2B463FD8BA}</a:tableStyleId>
              </a:tblPr>
              <a:tblGrid>
                <a:gridCol w="2706150"/>
                <a:gridCol w="2706150"/>
                <a:gridCol w="2706150"/>
              </a:tblGrid>
              <a:tr h="381000">
                <a:tc>
                  <a:txBody>
                    <a:bodyPr/>
                    <a:lstStyle/>
                    <a:p>
                      <a:pPr indent="0" lvl="0" marL="0" rtl="0" algn="ctr">
                        <a:lnSpc>
                          <a:spcPct val="115000"/>
                        </a:lnSpc>
                        <a:spcBef>
                          <a:spcPts val="0"/>
                        </a:spcBef>
                        <a:spcAft>
                          <a:spcPts val="1200"/>
                        </a:spcAft>
                        <a:buNone/>
                      </a:pPr>
                      <a:r>
                        <a:rPr b="1" lang="es" sz="1800">
                          <a:solidFill>
                            <a:schemeClr val="dk2"/>
                          </a:solidFill>
                          <a:latin typeface="Roboto"/>
                          <a:ea typeface="Roboto"/>
                          <a:cs typeface="Roboto"/>
                          <a:sym typeface="Roboto"/>
                        </a:rPr>
                        <a:t>Criterio</a:t>
                      </a:r>
                      <a:endParaRPr b="1"/>
                    </a:p>
                  </a:txBody>
                  <a:tcPr marT="91425" marB="91425" marR="91425" marL="91425"/>
                </a:tc>
                <a:tc>
                  <a:txBody>
                    <a:bodyPr/>
                    <a:lstStyle/>
                    <a:p>
                      <a:pPr indent="0" lvl="0" marL="0" rtl="0" algn="ctr">
                        <a:lnSpc>
                          <a:spcPct val="115000"/>
                        </a:lnSpc>
                        <a:spcBef>
                          <a:spcPts val="0"/>
                        </a:spcBef>
                        <a:spcAft>
                          <a:spcPts val="1200"/>
                        </a:spcAft>
                        <a:buNone/>
                      </a:pPr>
                      <a:r>
                        <a:rPr b="1" lang="es" sz="1800">
                          <a:solidFill>
                            <a:schemeClr val="dk2"/>
                          </a:solidFill>
                          <a:latin typeface="Roboto"/>
                          <a:ea typeface="Roboto"/>
                          <a:cs typeface="Roboto"/>
                          <a:sym typeface="Roboto"/>
                        </a:rPr>
                        <a:t>Opta por “tú”</a:t>
                      </a:r>
                      <a:endParaRPr b="1"/>
                    </a:p>
                  </a:txBody>
                  <a:tcPr marT="91425" marB="91425" marR="91425" marL="91425"/>
                </a:tc>
                <a:tc>
                  <a:txBody>
                    <a:bodyPr/>
                    <a:lstStyle/>
                    <a:p>
                      <a:pPr indent="0" lvl="0" marL="0" rtl="0" algn="ctr">
                        <a:lnSpc>
                          <a:spcPct val="115000"/>
                        </a:lnSpc>
                        <a:spcBef>
                          <a:spcPts val="0"/>
                        </a:spcBef>
                        <a:spcAft>
                          <a:spcPts val="1200"/>
                        </a:spcAft>
                        <a:buNone/>
                      </a:pPr>
                      <a:r>
                        <a:rPr b="1" lang="es" sz="1800">
                          <a:solidFill>
                            <a:schemeClr val="dk2"/>
                          </a:solidFill>
                          <a:latin typeface="Roboto"/>
                          <a:ea typeface="Roboto"/>
                          <a:cs typeface="Roboto"/>
                          <a:sym typeface="Roboto"/>
                        </a:rPr>
                        <a:t>Opta por “usted”</a:t>
                      </a:r>
                      <a:endParaRPr b="1"/>
                    </a:p>
                  </a:txBody>
                  <a:tcPr marT="91425" marB="91425" marR="91425" marL="91425"/>
                </a:tc>
              </a:tr>
              <a:tr h="381000">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Audiencia </a:t>
                      </a:r>
                      <a:endParaRPr sz="1200">
                        <a:solidFill>
                          <a:schemeClr val="dk2"/>
                        </a:solidFill>
                        <a:latin typeface="Roboto"/>
                        <a:ea typeface="Roboto"/>
                        <a:cs typeface="Roboto"/>
                        <a:sym typeface="Roboto"/>
                      </a:endParaRPr>
                    </a:p>
                  </a:txBody>
                  <a:tcPr marT="91425" marB="91425" marR="91425" marL="91425" anchor="ctr"/>
                </a:tc>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Equipos internos, perfiles operativos, audiencias jóvenes o cultura horizontal. </a:t>
                      </a:r>
                      <a:endParaRPr sz="1200">
                        <a:solidFill>
                          <a:schemeClr val="dk2"/>
                        </a:solidFill>
                        <a:latin typeface="Roboto"/>
                        <a:ea typeface="Roboto"/>
                        <a:cs typeface="Roboto"/>
                        <a:sym typeface="Roboto"/>
                      </a:endParaRPr>
                    </a:p>
                  </a:txBody>
                  <a:tcPr marT="91425" marB="91425" marR="91425" marL="91425" anchor="ctr"/>
                </a:tc>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Mandos directivos, clientes externos, sectores formales (legal, bancario) o audiencias multisectoriales. </a:t>
                      </a:r>
                      <a:endParaRPr sz="1200">
                        <a:solidFill>
                          <a:schemeClr val="dk2"/>
                        </a:solidFill>
                        <a:latin typeface="Roboto"/>
                        <a:ea typeface="Roboto"/>
                        <a:cs typeface="Roboto"/>
                        <a:sym typeface="Roboto"/>
                      </a:endParaRPr>
                    </a:p>
                  </a:txBody>
                  <a:tcPr marT="91425" marB="91425" marR="91425" marL="91425" anchor="ctr"/>
                </a:tc>
              </a:tr>
              <a:tr h="381000">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Objetivo </a:t>
                      </a:r>
                      <a:endParaRPr sz="1200">
                        <a:solidFill>
                          <a:schemeClr val="dk2"/>
                        </a:solidFill>
                        <a:latin typeface="Roboto"/>
                        <a:ea typeface="Roboto"/>
                        <a:cs typeface="Roboto"/>
                        <a:sym typeface="Roboto"/>
                      </a:endParaRPr>
                    </a:p>
                  </a:txBody>
                  <a:tcPr marT="91425" marB="91425" marR="91425" marL="91425" anchor="ctr"/>
                </a:tc>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Acompañamiento cercano, tutoriales ágiles, microaprendizaje o mentoría. </a:t>
                      </a:r>
                      <a:endParaRPr sz="1200">
                        <a:solidFill>
                          <a:schemeClr val="dk2"/>
                        </a:solidFill>
                        <a:latin typeface="Roboto"/>
                        <a:ea typeface="Roboto"/>
                        <a:cs typeface="Roboto"/>
                        <a:sym typeface="Roboto"/>
                      </a:endParaRPr>
                    </a:p>
                  </a:txBody>
                  <a:tcPr marT="91425" marB="91425" marR="91425" marL="91425" anchor="ctr"/>
                </a:tc>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Procesos normativos, cumplimiento (compliance), trámites institucionales o comunicados oficiales. </a:t>
                      </a:r>
                      <a:endParaRPr sz="1200">
                        <a:solidFill>
                          <a:schemeClr val="dk2"/>
                        </a:solidFill>
                        <a:latin typeface="Roboto"/>
                        <a:ea typeface="Roboto"/>
                        <a:cs typeface="Roboto"/>
                        <a:sym typeface="Roboto"/>
                      </a:endParaRPr>
                    </a:p>
                  </a:txBody>
                  <a:tcPr marT="91425" marB="91425" marR="91425" marL="91425" anchor="ctr">
                    <a:lnB cap="flat" cmpd="sng" w="9525">
                      <a:solidFill>
                        <a:srgbClr val="C4C7C5"/>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Voz de la marca </a:t>
                      </a:r>
                      <a:endParaRPr sz="1200">
                        <a:solidFill>
                          <a:schemeClr val="dk2"/>
                        </a:solidFill>
                        <a:latin typeface="Roboto"/>
                        <a:ea typeface="Roboto"/>
                        <a:cs typeface="Roboto"/>
                        <a:sym typeface="Roboto"/>
                      </a:endParaRPr>
                    </a:p>
                  </a:txBody>
                  <a:tcPr marT="91425" marB="91425" marR="91425" marL="91425" anchor="ctr"/>
                </a:tc>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Innovadora, accesible, conversacional. </a:t>
                      </a:r>
                      <a:endParaRPr sz="1200">
                        <a:solidFill>
                          <a:schemeClr val="dk2"/>
                        </a:solidFill>
                        <a:latin typeface="Roboto"/>
                        <a:ea typeface="Roboto"/>
                        <a:cs typeface="Roboto"/>
                        <a:sym typeface="Roboto"/>
                      </a:endParaRPr>
                    </a:p>
                  </a:txBody>
                  <a:tcPr marT="91425" marB="91425" marR="91425" marL="91425" anchor="ctr">
                    <a:lnR cap="flat" cmpd="sng" w="9525">
                      <a:solidFill>
                        <a:srgbClr val="C4C7C5"/>
                      </a:solidFill>
                      <a:prstDash val="solid"/>
                      <a:round/>
                      <a:headEnd len="sm" w="sm" type="none"/>
                      <a:tailEnd len="sm" w="sm" type="none"/>
                    </a:lnR>
                  </a:tcPr>
                </a:tc>
                <a:tc>
                  <a:txBody>
                    <a:bodyPr/>
                    <a:lstStyle/>
                    <a:p>
                      <a:pPr indent="0" lvl="0" marL="0" marR="0" rtl="0" algn="ctr">
                        <a:lnSpc>
                          <a:spcPct val="115000"/>
                        </a:lnSpc>
                        <a:spcBef>
                          <a:spcPts val="0"/>
                        </a:spcBef>
                        <a:spcAft>
                          <a:spcPts val="1200"/>
                        </a:spcAft>
                        <a:buNone/>
                      </a:pPr>
                      <a:r>
                        <a:rPr lang="es" sz="1200">
                          <a:solidFill>
                            <a:schemeClr val="dk2"/>
                          </a:solidFill>
                          <a:latin typeface="Roboto"/>
                          <a:ea typeface="Roboto"/>
                          <a:cs typeface="Roboto"/>
                          <a:sym typeface="Roboto"/>
                        </a:rPr>
                        <a:t>Institucional, tradicional, sobria.</a:t>
                      </a:r>
                      <a:endParaRPr sz="1200">
                        <a:solidFill>
                          <a:schemeClr val="dk2"/>
                        </a:solidFill>
                        <a:latin typeface="Roboto"/>
                        <a:ea typeface="Roboto"/>
                        <a:cs typeface="Roboto"/>
                        <a:sym typeface="Roboto"/>
                      </a:endParaRPr>
                    </a:p>
                  </a:txBody>
                  <a:tcPr marT="76200" marB="76200" marR="114300" marL="114300" anchor="ctr">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